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Claude Code — Beginner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Setup • Project Structure • Commands • Real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 practical introduction for developers</a:t>
            </a:r>
          </a:p>
          <a:p>
            <a:pPr>
              <a:spcAft>
                <a:spcPts val="900"/>
              </a:spcAft>
              <a:defRPr sz="1700"/>
            </a:pPr>
            <a:r>
              <a:t>Work with a real repository</a:t>
            </a:r>
          </a:p>
          <a:p>
            <a:pPr>
              <a:spcAft>
                <a:spcPts val="900"/>
              </a:spcAft>
              <a:defRPr sz="1700"/>
            </a:pPr>
            <a:r>
              <a:t>Learn files, folders, commands, safety and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What is Claude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AI coding agent that works from your terminal/development environment.</a:t>
            </a:r>
          </a:p>
          <a:p>
            <a:pPr>
              <a:spcAft>
                <a:spcPts val="900"/>
              </a:spcAft>
              <a:defRPr sz="1700"/>
            </a:pPr>
            <a:r>
              <a:t>Can inspect files, search code, edit files, run commands and tests.</a:t>
            </a:r>
          </a:p>
          <a:p>
            <a:pPr>
              <a:spcAft>
                <a:spcPts val="900"/>
              </a:spcAft>
              <a:defRPr sz="1700"/>
            </a:pPr>
            <a:r>
              <a:t>Works with the actual project context.</a:t>
            </a:r>
          </a:p>
          <a:p>
            <a:pPr>
              <a:spcAft>
                <a:spcPts val="900"/>
              </a:spcAft>
              <a:defRPr sz="1700"/>
            </a:pPr>
            <a:r>
              <a:t>Think: developer + terminal + AI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Developer → Claude Code → Repository</a:t>
            </a:r>
            <a:br/>
            <a:r>
              <a:t>                         ↓</a:t>
            </a:r>
            <a:br/>
            <a:r>
              <a:t>                 Read / Edit /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Claude Code vs Claude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Claude Chat: questions, explanations and brainstorming.</a:t>
            </a:r>
          </a:p>
          <a:p>
            <a:pPr>
              <a:spcAft>
                <a:spcPts val="900"/>
              </a:spcAft>
              <a:defRPr sz="1700"/>
            </a:pPr>
            <a:r>
              <a:t>Claude Code: work directly on a codebase.</a:t>
            </a:r>
          </a:p>
          <a:p>
            <a:pPr>
              <a:spcAft>
                <a:spcPts val="900"/>
              </a:spcAft>
              <a:defRPr sz="1700"/>
            </a:pPr>
            <a:r>
              <a:t>Code can inspect → change → test the repository.</a:t>
            </a:r>
          </a:p>
          <a:p>
            <a:pPr>
              <a:spcAft>
                <a:spcPts val="900"/>
              </a:spcAft>
              <a:defRPr sz="1700"/>
            </a:pPr>
            <a:r>
              <a:t>Both use AI; the development environment is the key difference.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Chat: “Explain this function.”</a:t>
            </a:r>
            <a:br/>
            <a:br/>
            <a:r>
              <a:t>Code: “Find the bug, fix it, and run tests.”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Supported Claude Code access/account.</a:t>
            </a:r>
          </a:p>
          <a:p>
            <a:pPr>
              <a:spcAft>
                <a:spcPts val="900"/>
              </a:spcAft>
              <a:defRPr sz="1700"/>
            </a:pPr>
            <a:r>
              <a:t>Terminal access.</a:t>
            </a:r>
          </a:p>
          <a:p>
            <a:pPr>
              <a:spcAft>
                <a:spcPts val="900"/>
              </a:spcAft>
              <a:defRPr sz="1700"/>
            </a:pPr>
            <a:r>
              <a:t>Git is strongly recommended.</a:t>
            </a:r>
          </a:p>
          <a:p>
            <a:pPr>
              <a:spcAft>
                <a:spcPts val="900"/>
              </a:spcAft>
              <a:defRPr sz="1700"/>
            </a:pPr>
            <a:r>
              <a:t>A project/repository.</a:t>
            </a:r>
          </a:p>
          <a:p>
            <a:pPr>
              <a:spcAft>
                <a:spcPts val="900"/>
              </a:spcAft>
              <a:defRPr sz="1700"/>
            </a:pPr>
            <a:r>
              <a:t>Follow the current official installation method for your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Terminal + Git repository</a:t>
            </a:r>
            <a:br/>
            <a:r>
              <a:t>          +</a:t>
            </a:r>
            <a:br/>
            <a:r>
              <a:t>     Claude Code</a:t>
            </a:r>
            <a:br/>
            <a:r>
              <a:t>          ↓</a:t>
            </a:r>
            <a:br/>
            <a:r>
              <a:t> AI-assisted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Installation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Install Claude Code using the current official instructions.</a:t>
            </a:r>
          </a:p>
          <a:p>
            <a:pPr>
              <a:spcAft>
                <a:spcPts val="900"/>
              </a:spcAft>
              <a:defRPr sz="1700"/>
            </a:pPr>
            <a:r>
              <a:t>Open a terminal and verify installation.</a:t>
            </a:r>
          </a:p>
          <a:p>
            <a:pPr>
              <a:spcAft>
                <a:spcPts val="900"/>
              </a:spcAft>
              <a:defRPr sz="1700"/>
            </a:pPr>
            <a:r>
              <a:t>Sign in when prompted.</a:t>
            </a:r>
          </a:p>
          <a:p>
            <a:pPr>
              <a:spcAft>
                <a:spcPts val="900"/>
              </a:spcAft>
              <a:defRPr sz="1700"/>
            </a:pPr>
            <a:r>
              <a:t>Start Claude Code from your project directory.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cd my-project</a:t>
            </a:r>
            <a:br/>
            <a:r>
              <a:t>claude</a:t>
            </a:r>
            <a:br/>
            <a:br/>
            <a:r>
              <a:t># Follow the sign-in/setup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First Claude Code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Start inside a repository.</a:t>
            </a:r>
          </a:p>
          <a:p>
            <a:pPr>
              <a:spcAft>
                <a:spcPts val="900"/>
              </a:spcAft>
              <a:defRPr sz="1700"/>
            </a:pPr>
            <a:r>
              <a:t>Let Claude inspect the project before large changes.</a:t>
            </a:r>
          </a:p>
          <a:p>
            <a:pPr>
              <a:spcAft>
                <a:spcPts val="900"/>
              </a:spcAft>
              <a:defRPr sz="1700"/>
            </a:pPr>
            <a:r>
              <a:t>Ask: explain the structure.</a:t>
            </a:r>
          </a:p>
          <a:p>
            <a:pPr>
              <a:spcAft>
                <a:spcPts val="900"/>
              </a:spcAft>
              <a:defRPr sz="1700"/>
            </a:pPr>
            <a:r>
              <a:t>Ask: where is the entry point?</a:t>
            </a:r>
          </a:p>
          <a:p>
            <a:pPr>
              <a:spcAft>
                <a:spcPts val="900"/>
              </a:spcAft>
              <a:defRPr sz="1700"/>
            </a:pPr>
            <a:r>
              <a:t>Ask: how do I run the tests?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cd my-project</a:t>
            </a:r>
            <a:br/>
            <a: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Connecting Claude Code to 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Start Claude Code from the project directory.</a:t>
            </a:r>
          </a:p>
          <a:p>
            <a:pPr>
              <a:spcAft>
                <a:spcPts val="900"/>
              </a:spcAft>
              <a:defRPr sz="1700"/>
            </a:pPr>
            <a:r>
              <a:t>It can inspect repository context and project instructions.</a:t>
            </a:r>
          </a:p>
          <a:p>
            <a:pPr>
              <a:spcAft>
                <a:spcPts val="900"/>
              </a:spcAft>
              <a:defRPr sz="1700"/>
            </a:pPr>
            <a:r>
              <a:t>Use Git so changes are visible and reversible.</a:t>
            </a:r>
          </a:p>
          <a:p>
            <a:pPr>
              <a:spcAft>
                <a:spcPts val="900"/>
              </a:spcAft>
              <a:defRPr sz="1700"/>
            </a:pPr>
            <a:r>
              <a:t>Workflow: understand → plan → change → test →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my-project/</a:t>
            </a:r>
            <a:br/>
            <a:r>
              <a:t>├── src/</a:t>
            </a:r>
            <a:br/>
            <a:r>
              <a:t>├── tests/</a:t>
            </a:r>
            <a:br/>
            <a:r>
              <a:t>├── README.md</a:t>
            </a:r>
            <a:br/>
            <a:r>
              <a:t>└── CLAUDE.md</a:t>
            </a:r>
            <a:br/>
            <a:br/>
            <a:r>
              <a:t>$ cd my-project</a:t>
            </a:r>
            <a:br/>
            <a:r>
              <a:t>$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Typical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Application folders remain normal: src/, tests/, docs/.</a:t>
            </a:r>
          </a:p>
          <a:p>
            <a:pPr>
              <a:spcAft>
                <a:spcPts val="900"/>
              </a:spcAft>
              <a:defRPr sz="1700"/>
            </a:pPr>
            <a:r>
              <a:t>CLAUDE.md provides persistent project instructions.</a:t>
            </a:r>
          </a:p>
          <a:p>
            <a:pPr>
              <a:spcAft>
                <a:spcPts val="900"/>
              </a:spcAft>
              <a:defRPr sz="1700"/>
            </a:pPr>
            <a:r>
              <a:t>Claude-specific customization can live in .claude/.</a:t>
            </a:r>
          </a:p>
          <a:p>
            <a:pPr>
              <a:spcAft>
                <a:spcPts val="900"/>
              </a:spcAft>
              <a:defRPr sz="1700"/>
            </a:pPr>
            <a:r>
              <a:t>Not every project needs every feature.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project/</a:t>
            </a:r>
            <a:br/>
            <a:r>
              <a:t>├── src/</a:t>
            </a:r>
            <a:br/>
            <a:r>
              <a:t>├── tests/</a:t>
            </a:r>
            <a:br/>
            <a:r>
              <a:t>├── docs/</a:t>
            </a:r>
            <a:br/>
            <a:r>
              <a:t>├── README.md</a:t>
            </a:r>
            <a:br/>
            <a:r>
              <a:t>├── CLAUDE.md</a:t>
            </a:r>
            <a:br/>
            <a:r>
              <a:t>└── .claude/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The `.claude/`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Project-level Claude Code customization.</a:t>
            </a:r>
          </a:p>
          <a:p>
            <a:pPr>
              <a:spcAft>
                <a:spcPts val="900"/>
              </a:spcAft>
              <a:defRPr sz="1700"/>
            </a:pPr>
            <a:r>
              <a:t>Common items include settings, skills, hooks and agent definitions.</a:t>
            </a:r>
          </a:p>
          <a:p>
            <a:pPr>
              <a:spcAft>
                <a:spcPts val="900"/>
              </a:spcAft>
              <a:defRPr sz="1700"/>
            </a:pPr>
            <a:r>
              <a:t>Use it when the project needs more than simple instructions.</a:t>
            </a:r>
          </a:p>
          <a:p>
            <a:pPr>
              <a:spcAft>
                <a:spcPts val="900"/>
              </a:spcAft>
              <a:defRPr sz="1700"/>
            </a:pPr>
            <a:r>
              <a:t>Keep configuration small and understandable.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.claude/</a:t>
            </a:r>
            <a:br/>
            <a:r>
              <a:t>├── settings.json</a:t>
            </a:r>
            <a:br/>
            <a:r>
              <a:t>├── agents/</a:t>
            </a:r>
            <a:br/>
            <a:r>
              <a:t>├── skills/</a:t>
            </a:r>
            <a:br/>
            <a:r>
              <a:t>└── hooks/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`CLAUDE.md`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Persistent project instructions.</a:t>
            </a:r>
          </a:p>
          <a:p>
            <a:pPr>
              <a:spcAft>
                <a:spcPts val="900"/>
              </a:spcAft>
              <a:defRPr sz="1700"/>
            </a:pPr>
            <a:r>
              <a:t>Good for conventions, architecture notes, commands and rules.</a:t>
            </a:r>
          </a:p>
          <a:p>
            <a:pPr>
              <a:spcAft>
                <a:spcPts val="900"/>
              </a:spcAft>
              <a:defRPr sz="1700"/>
            </a:pPr>
            <a:r>
              <a:t>Examples: test command, package manager, coding rules.</a:t>
            </a:r>
          </a:p>
          <a:p>
            <a:pPr>
              <a:spcAft>
                <a:spcPts val="900"/>
              </a:spcAft>
              <a:defRPr sz="1700"/>
            </a:pPr>
            <a:r>
              <a:t>Keep it focused; move detailed reference material to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# CLAUDE.md</a:t>
            </a:r>
            <a:br/>
            <a:br/>
            <a:r>
              <a:t>## Commands</a:t>
            </a:r>
            <a:br/>
            <a:r>
              <a:t>pytest</a:t>
            </a:r>
            <a:br/>
            <a:br/>
            <a:r>
              <a:t>## Rules</a:t>
            </a:r>
            <a:br/>
            <a:r>
              <a:t>Run tests before finalizing.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`settings.json`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Configures Claude Code behavior.</a:t>
            </a:r>
          </a:p>
          <a:p>
            <a:pPr>
              <a:spcAft>
                <a:spcPts val="900"/>
              </a:spcAft>
              <a:defRPr sz="1700"/>
            </a:pPr>
            <a:r>
              <a:t>Can contain project-level permissions and settings.</a:t>
            </a:r>
          </a:p>
          <a:p>
            <a:pPr>
              <a:spcAft>
                <a:spcPts val="900"/>
              </a:spcAft>
              <a:defRPr sz="1700"/>
            </a:pPr>
            <a:r>
              <a:t>Permissions affect what Claude can do.</a:t>
            </a:r>
          </a:p>
          <a:p>
            <a:pPr>
              <a:spcAft>
                <a:spcPts val="900"/>
              </a:spcAft>
              <a:defRPr sz="1700"/>
            </a:pPr>
            <a:r>
              <a:t>Never use it as a place for application secrets.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.claude/settings.json</a:t>
            </a:r>
            <a:br/>
            <a:br/>
            <a:r>
              <a:t>{</a:t>
            </a:r>
            <a:br/>
            <a:r>
              <a:t>  "permissions": {</a:t>
            </a:r>
            <a:br/>
            <a:r>
              <a:t>    "allow": ["Bash(git status)"]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`agents/` — Specialized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Subagents provide isolated context for focused tasks.</a:t>
            </a:r>
          </a:p>
          <a:p>
            <a:pPr>
              <a:spcAft>
                <a:spcPts val="900"/>
              </a:spcAft>
              <a:defRPr sz="1700"/>
            </a:pPr>
            <a:r>
              <a:t>Useful for reviewers or specialized workers.</a:t>
            </a:r>
          </a:p>
          <a:p>
            <a:pPr>
              <a:spcAft>
                <a:spcPts val="900"/>
              </a:spcAft>
              <a:defRPr sz="1700"/>
            </a:pPr>
            <a:r>
              <a:t>Examples: code reviewer, security reviewer, test specialist.</a:t>
            </a:r>
          </a:p>
          <a:p>
            <a:pPr>
              <a:spcAft>
                <a:spcPts val="900"/>
              </a:spcAft>
              <a:defRPr sz="1700"/>
            </a:pPr>
            <a:r>
              <a:t>Start with the main session; add subagents when useful.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.claude/agents/</a:t>
            </a:r>
            <a:br/>
            <a:r>
              <a:t>├── code-reviewer.md</a:t>
            </a:r>
            <a:br/>
            <a:r>
              <a:t>└── test-reviewer.md</a:t>
            </a:r>
            <a:br/>
            <a:br/>
            <a:r>
              <a:t>Main session → subagent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`skills/` — Reusable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Skills package reusable instructions, knowledge or workflows.</a:t>
            </a:r>
          </a:p>
          <a:p>
            <a:pPr>
              <a:spcAft>
                <a:spcPts val="900"/>
              </a:spcAft>
              <a:defRPr sz="1700"/>
            </a:pPr>
            <a:r>
              <a:t>They can be invoked on demand and may be used when relevant.</a:t>
            </a:r>
          </a:p>
          <a:p>
            <a:pPr>
              <a:spcAft>
                <a:spcPts val="900"/>
              </a:spcAft>
              <a:defRPr sz="1700"/>
            </a:pPr>
            <a:r>
              <a:t>Examples: deployment checklist or release process.</a:t>
            </a:r>
          </a:p>
          <a:p>
            <a:pPr>
              <a:spcAft>
                <a:spcPts val="900"/>
              </a:spcAft>
              <a:defRPr sz="1700"/>
            </a:pPr>
            <a:r>
              <a:t>Use skills for repeated tasks instead of a huge CLAUDE.md.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.claude/skills/</a:t>
            </a:r>
            <a:br/>
            <a:r>
              <a:t>└── deploy/</a:t>
            </a:r>
            <a:br/>
            <a:r>
              <a:t>    └── SKILL.md</a:t>
            </a:r>
            <a:br/>
            <a:br/>
            <a:r>
              <a:t>/deploy → reusable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`commands/` — Current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Older setups commonly used custom slash-command files.</a:t>
            </a:r>
          </a:p>
          <a:p>
            <a:pPr>
              <a:spcAft>
                <a:spcPts val="900"/>
              </a:spcAft>
              <a:defRPr sz="1700"/>
            </a:pPr>
            <a:r>
              <a:t>Current documentation treats custom commands through the skills mechanism.</a:t>
            </a:r>
          </a:p>
          <a:p>
            <a:pPr>
              <a:spcAft>
                <a:spcPts val="900"/>
              </a:spcAft>
              <a:defRPr sz="1700"/>
            </a:pPr>
            <a:r>
              <a:t>Think: slash command / workflow → Skill.</a:t>
            </a:r>
          </a:p>
          <a:p>
            <a:pPr>
              <a:spcAft>
                <a:spcPts val="900"/>
              </a:spcAft>
              <a:defRPr sz="1700"/>
            </a:pPr>
            <a:r>
              <a:t>Existing repositories may still contain commands/.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Modern mental model:</a:t>
            </a:r>
            <a:br/>
            <a:br/>
            <a:r>
              <a:t>/workflow</a:t>
            </a:r>
            <a:br/>
            <a:r>
              <a:t>   ↓</a:t>
            </a:r>
            <a:br/>
            <a:r>
              <a:t> Skill</a:t>
            </a:r>
            <a:br/>
            <a:r>
              <a:t>   ↓</a:t>
            </a:r>
            <a:br/>
            <a:r>
              <a:t>Reusable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`hooks/`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Hooks automate actions when Claude Code events occur.</a:t>
            </a:r>
          </a:p>
          <a:p>
            <a:pPr>
              <a:spcAft>
                <a:spcPts val="900"/>
              </a:spcAft>
              <a:defRPr sz="1700"/>
            </a:pPr>
            <a:r>
              <a:t>Useful for repeatable checks and automation.</a:t>
            </a:r>
          </a:p>
          <a:p>
            <a:pPr>
              <a:spcAft>
                <a:spcPts val="900"/>
              </a:spcAft>
              <a:defRPr sz="1700"/>
            </a:pPr>
            <a:r>
              <a:t>Example: run formatting or validation after an event.</a:t>
            </a:r>
          </a:p>
          <a:p>
            <a:pPr>
              <a:spcAft>
                <a:spcPts val="900"/>
              </a:spcAft>
              <a:defRPr sz="1700"/>
            </a:pPr>
            <a:r>
              <a:t>Advanced topic: understand the concept before creating hooks.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Claude event</a:t>
            </a:r>
            <a:br/>
            <a:r>
              <a:t>    ↓</a:t>
            </a:r>
            <a:br/>
            <a:r>
              <a:t>   Hook</a:t>
            </a:r>
            <a:br/>
            <a:r>
              <a:t>    ↓</a:t>
            </a:r>
            <a:br/>
            <a:r>
              <a:t>Script / action</a:t>
            </a:r>
            <a:br/>
            <a:r>
              <a:t>    ↓</a:t>
            </a:r>
            <a:br/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How Claude Code Uses These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CLAUDE.md → always-needed project context.</a:t>
            </a:r>
          </a:p>
          <a:p>
            <a:pPr>
              <a:spcAft>
                <a:spcPts val="900"/>
              </a:spcAft>
              <a:defRPr sz="1700"/>
            </a:pPr>
            <a:r>
              <a:t>Skills → reusable/on-demand knowledge or workflows.</a:t>
            </a:r>
          </a:p>
          <a:p>
            <a:pPr>
              <a:spcAft>
                <a:spcPts val="900"/>
              </a:spcAft>
              <a:defRPr sz="1700"/>
            </a:pPr>
            <a:r>
              <a:t>Subagents → isolated specialized work.</a:t>
            </a:r>
          </a:p>
          <a:p>
            <a:pPr>
              <a:spcAft>
                <a:spcPts val="900"/>
              </a:spcAft>
              <a:defRPr sz="1700"/>
            </a:pPr>
            <a:r>
              <a:t>Hooks → event-driven automation.</a:t>
            </a:r>
          </a:p>
          <a:p>
            <a:pPr>
              <a:spcAft>
                <a:spcPts val="900"/>
              </a:spcAft>
              <a:defRPr sz="1700"/>
            </a:pPr>
            <a:r>
              <a:t>Settings → configuration and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CLAUDE.md  → context</a:t>
            </a:r>
            <a:br/>
            <a:r>
              <a:t>Skills     → reusable workflows</a:t>
            </a:r>
            <a:br/>
            <a:r>
              <a:t>Agents     → specialized work</a:t>
            </a:r>
            <a:br/>
            <a:r>
              <a:t>Hooks      → automation</a:t>
            </a:r>
            <a:br/>
            <a:r>
              <a:t>Settings   →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Basic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/help — show available commands.</a:t>
            </a:r>
          </a:p>
          <a:p>
            <a:pPr>
              <a:spcAft>
                <a:spcPts val="900"/>
              </a:spcAft>
              <a:defRPr sz="1700"/>
            </a:pPr>
            <a:r>
              <a:t>/init — initialize project guidance / CLAUDE.md.</a:t>
            </a:r>
          </a:p>
          <a:p>
            <a:pPr>
              <a:spcAft>
                <a:spcPts val="900"/>
              </a:spcAft>
              <a:defRPr sz="1700"/>
            </a:pPr>
            <a:r>
              <a:t>/clear — clear current conversation context.</a:t>
            </a:r>
          </a:p>
          <a:p>
            <a:pPr>
              <a:spcAft>
                <a:spcPts val="900"/>
              </a:spcAft>
              <a:defRPr sz="1700"/>
            </a:pPr>
            <a:r>
              <a:t>/compact — compact conversation context.</a:t>
            </a:r>
          </a:p>
          <a:p>
            <a:pPr>
              <a:spcAft>
                <a:spcPts val="900"/>
              </a:spcAft>
              <a:defRPr sz="1700"/>
            </a:pPr>
            <a:r>
              <a:t>/memory — manage memory/instruction files.</a:t>
            </a:r>
          </a:p>
          <a:p>
            <a:pPr>
              <a:spcAft>
                <a:spcPts val="900"/>
              </a:spcAft>
              <a:defRPr sz="1700"/>
            </a:pPr>
            <a:r>
              <a:t>/status — show session/status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/help</a:t>
            </a:r>
            <a:br/>
            <a:r>
              <a:t>/init</a:t>
            </a:r>
            <a:br/>
            <a:r>
              <a:t>/clear</a:t>
            </a:r>
            <a:br/>
            <a:r>
              <a:t>/compact</a:t>
            </a:r>
            <a:br/>
            <a:r>
              <a:t>/memory</a:t>
            </a:r>
            <a:br/>
            <a:r>
              <a:t>/status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Useful Developer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/plan — plan before making a change.</a:t>
            </a:r>
          </a:p>
          <a:p>
            <a:pPr>
              <a:spcAft>
                <a:spcPts val="900"/>
              </a:spcAft>
              <a:defRPr sz="1700"/>
            </a:pPr>
            <a:r>
              <a:t>/permissions — manage tool permission rules.</a:t>
            </a:r>
          </a:p>
          <a:p>
            <a:pPr>
              <a:spcAft>
                <a:spcPts val="900"/>
              </a:spcAft>
              <a:defRPr sz="1700"/>
            </a:pPr>
            <a:r>
              <a:t>/agents — manage agent configurations.</a:t>
            </a:r>
          </a:p>
          <a:p>
            <a:pPr>
              <a:spcAft>
                <a:spcPts val="900"/>
              </a:spcAft>
              <a:defRPr sz="1700"/>
            </a:pPr>
            <a:r>
              <a:t>/skills — list available skills.</a:t>
            </a:r>
          </a:p>
          <a:p>
            <a:pPr>
              <a:spcAft>
                <a:spcPts val="900"/>
              </a:spcAft>
              <a:defRPr sz="1700"/>
            </a:pPr>
            <a:r>
              <a:t>/mcp — manage MCP connections.</a:t>
            </a:r>
          </a:p>
          <a:p>
            <a:pPr>
              <a:spcAft>
                <a:spcPts val="900"/>
              </a:spcAft>
              <a:defRPr sz="1700"/>
            </a:pPr>
            <a:r>
              <a:t>/model — select/change model when available.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/plan fix the login bug</a:t>
            </a:r>
            <a:br/>
            <a:br/>
            <a:r>
              <a:t>/permissions</a:t>
            </a:r>
            <a:br/>
            <a:r>
              <a:t>/agents</a:t>
            </a:r>
            <a:br/>
            <a:r>
              <a:t>/skills</a:t>
            </a:r>
            <a:br/>
            <a:r>
              <a:t>/mcp</a:t>
            </a:r>
            <a:br/>
            <a:r>
              <a:t>/model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Ask Claude to Understand a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Start with read-only questions.</a:t>
            </a:r>
          </a:p>
          <a:p>
            <a:pPr>
              <a:spcAft>
                <a:spcPts val="900"/>
              </a:spcAft>
              <a:defRPr sz="1700"/>
            </a:pPr>
            <a:r>
              <a:t>Ask for architecture before changes.</a:t>
            </a:r>
          </a:p>
          <a:p>
            <a:pPr>
              <a:spcAft>
                <a:spcPts val="900"/>
              </a:spcAft>
              <a:defRPr sz="1700"/>
            </a:pPr>
            <a:r>
              <a:t>“Map the main components.”</a:t>
            </a:r>
          </a:p>
          <a:p>
            <a:pPr>
              <a:spcAft>
                <a:spcPts val="900"/>
              </a:spcAft>
              <a:defRPr sz="1700"/>
            </a:pPr>
            <a:r>
              <a:t>“Find where authentication is implemented.”</a:t>
            </a:r>
          </a:p>
          <a:p>
            <a:pPr>
              <a:spcAft>
                <a:spcPts val="900"/>
              </a:spcAft>
              <a:defRPr sz="1700"/>
            </a:pPr>
            <a:r>
              <a:t>“Tell me how to run tests.”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Repository</a:t>
            </a:r>
            <a:br/>
            <a:r>
              <a:t>   ↓</a:t>
            </a:r>
            <a:br/>
            <a:r>
              <a:t>Architecture</a:t>
            </a:r>
            <a:br/>
            <a:r>
              <a:t>   ↓</a:t>
            </a:r>
            <a:br/>
            <a:r>
              <a:t>Important files</a:t>
            </a:r>
            <a:br/>
            <a:r>
              <a:t>   ↓</a:t>
            </a:r>
            <a:br/>
            <a:r>
              <a:t>Tests /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Ask Claude to Modify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Give a clear goal and constraints.</a:t>
            </a:r>
          </a:p>
          <a:p>
            <a:pPr>
              <a:spcAft>
                <a:spcPts val="900"/>
              </a:spcAft>
              <a:defRPr sz="1700"/>
            </a:pPr>
            <a:r>
              <a:t>Ask Claude to inspect relevant files first.</a:t>
            </a:r>
          </a:p>
          <a:p>
            <a:pPr>
              <a:spcAft>
                <a:spcPts val="900"/>
              </a:spcAft>
              <a:defRPr sz="1700"/>
            </a:pPr>
            <a:r>
              <a:t>For risky changes, plan before implementation.</a:t>
            </a:r>
          </a:p>
          <a:p>
            <a:pPr>
              <a:spcAft>
                <a:spcPts val="900"/>
              </a:spcAft>
              <a:defRPr sz="1700"/>
            </a:pPr>
            <a:r>
              <a:t>Always review the diff before committing.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“Inspect the login module.</a:t>
            </a:r>
            <a:br/>
            <a:r>
              <a:t>Identify the bug and propose a plan.</a:t>
            </a:r>
            <a:br/>
            <a:r>
              <a:t>Do not modify files yet.”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Ask Claude to Run Tests /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Ask it to reproduce the problem first.</a:t>
            </a:r>
          </a:p>
          <a:p>
            <a:pPr>
              <a:spcAft>
                <a:spcPts val="900"/>
              </a:spcAft>
              <a:defRPr sz="1700"/>
            </a:pPr>
            <a:r>
              <a:t>Inspect code and logs.</a:t>
            </a:r>
          </a:p>
          <a:p>
            <a:pPr>
              <a:spcAft>
                <a:spcPts val="900"/>
              </a:spcAft>
              <a:defRPr sz="1700"/>
            </a:pPr>
            <a:r>
              <a:t>Request the smallest safe fix.</a:t>
            </a:r>
          </a:p>
          <a:p>
            <a:pPr>
              <a:spcAft>
                <a:spcPts val="900"/>
              </a:spcAft>
              <a:defRPr sz="1700"/>
            </a:pPr>
            <a:r>
              <a:t>Run relevant tests again after the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Bug → Reproduce → Inspect</a:t>
            </a:r>
            <a:br/>
            <a:r>
              <a:t>          ↓</a:t>
            </a:r>
            <a:br/>
            <a:r>
              <a:t>        Fix</a:t>
            </a:r>
            <a:br/>
            <a:r>
              <a:t>          ↓</a:t>
            </a:r>
            <a:br/>
            <a:r>
              <a:t>        Test</a:t>
            </a:r>
            <a:br/>
            <a:r>
              <a:t>          ↓</a:t>
            </a:r>
            <a:br/>
            <a:r>
              <a:t>      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Git / GitHub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Claude can help with normal Git workflows.</a:t>
            </a:r>
          </a:p>
          <a:p>
            <a:pPr>
              <a:spcAft>
                <a:spcPts val="900"/>
              </a:spcAft>
              <a:defRPr sz="1700"/>
            </a:pPr>
            <a:r>
              <a:t>Inspect status, review diffs, create commits and help with PR work.</a:t>
            </a:r>
          </a:p>
          <a:p>
            <a:pPr>
              <a:spcAft>
                <a:spcPts val="900"/>
              </a:spcAft>
              <a:defRPr sz="1700"/>
            </a:pPr>
            <a:r>
              <a:t>Keep Git history understandable.</a:t>
            </a:r>
          </a:p>
          <a:p>
            <a:pPr>
              <a:spcAft>
                <a:spcPts val="900"/>
              </a:spcAft>
              <a:defRPr sz="1700"/>
            </a:pPr>
            <a:r>
              <a:t>Never blindly accept a large generated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git status</a:t>
            </a:r>
            <a:br/>
            <a:r>
              <a:t>   ↓</a:t>
            </a:r>
            <a:br/>
            <a:r>
              <a:t>Inspect / Edit</a:t>
            </a:r>
            <a:br/>
            <a:r>
              <a:t>   ↓</a:t>
            </a:r>
            <a:br/>
            <a:r>
              <a:t>Tests</a:t>
            </a:r>
            <a:br/>
            <a:r>
              <a:t>   ↓</a:t>
            </a:r>
            <a:br/>
            <a:r>
              <a:t>git diff</a:t>
            </a:r>
            <a:br/>
            <a:r>
              <a:t>   ↓</a:t>
            </a:r>
            <a:br/>
            <a:r>
              <a:t>Commit /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Permissions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Claude can read files, edit files and run commands.</a:t>
            </a:r>
          </a:p>
          <a:p>
            <a:pPr>
              <a:spcAft>
                <a:spcPts val="900"/>
              </a:spcAft>
              <a:defRPr sz="1700"/>
            </a:pPr>
            <a:r>
              <a:t>Permission prompts are a safety boundary.</a:t>
            </a:r>
          </a:p>
          <a:p>
            <a:pPr>
              <a:spcAft>
                <a:spcPts val="900"/>
              </a:spcAft>
              <a:defRPr sz="1700"/>
            </a:pPr>
            <a:r>
              <a:t>Review potentially destructive commands.</a:t>
            </a:r>
          </a:p>
          <a:p>
            <a:pPr>
              <a:spcAft>
                <a:spcPts val="900"/>
              </a:spcAft>
              <a:defRPr sz="1700"/>
            </a:pPr>
            <a:r>
              <a:t>Never put passwords, API keys or tokens in prompts/instructions.</a:t>
            </a:r>
          </a:p>
          <a:p>
            <a:pPr>
              <a:spcAft>
                <a:spcPts val="900"/>
              </a:spcAft>
              <a:defRPr sz="1700"/>
            </a:pPr>
            <a:r>
              <a:t>Use Git and review diffs before committing.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Ask → Inspect → Plan</a:t>
            </a:r>
            <a:br/>
            <a:r>
              <a:t>             ↓</a:t>
            </a:r>
            <a:br/>
            <a:r>
              <a:t>          Change</a:t>
            </a:r>
            <a:br/>
            <a:r>
              <a:t>             ↓</a:t>
            </a:r>
            <a:br/>
            <a:r>
              <a:t>       Test →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Example Real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 practical starting point, not a requirement.</a:t>
            </a:r>
          </a:p>
          <a:p>
            <a:pPr>
              <a:spcAft>
                <a:spcPts val="900"/>
              </a:spcAft>
              <a:defRPr sz="1700"/>
            </a:pPr>
            <a:r>
              <a:t>Begin with CLAUDE.md.</a:t>
            </a:r>
          </a:p>
          <a:p>
            <a:pPr>
              <a:spcAft>
                <a:spcPts val="900"/>
              </a:spcAft>
              <a:defRPr sz="1700"/>
            </a:pPr>
            <a:r>
              <a:t>Add skills/agents/hooks only when they solve a real repeated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my-app/</a:t>
            </a:r>
            <a:br/>
            <a:r>
              <a:t>├── src/</a:t>
            </a:r>
            <a:br/>
            <a:r>
              <a:t>├── tests/</a:t>
            </a:r>
            <a:br/>
            <a:r>
              <a:t>├── docs/</a:t>
            </a:r>
            <a:br/>
            <a:r>
              <a:t>├── README.md</a:t>
            </a:r>
            <a:br/>
            <a:r>
              <a:t>├── CLAUDE.md</a:t>
            </a:r>
            <a:br/>
            <a:r>
              <a:t>└── .claude/</a:t>
            </a:r>
            <a:br/>
            <a:r>
              <a:t>    ├── settings.json</a:t>
            </a:r>
            <a:br/>
            <a:r>
              <a:t>    ├── agents/</a:t>
            </a:r>
            <a:br/>
            <a:r>
              <a:t>    ├── skills/</a:t>
            </a:r>
            <a:br/>
            <a:r>
              <a:t>    └── hooks/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Beginner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Clone a small Git repository.</a:t>
            </a:r>
          </a:p>
          <a:p>
            <a:pPr>
              <a:spcAft>
                <a:spcPts val="900"/>
              </a:spcAft>
              <a:defRPr sz="1700"/>
            </a:pPr>
            <a:r>
              <a:t>Open terminal in the repository.</a:t>
            </a:r>
          </a:p>
          <a:p>
            <a:pPr>
              <a:spcAft>
                <a:spcPts val="900"/>
              </a:spcAft>
              <a:defRPr sz="1700"/>
            </a:pPr>
            <a:r>
              <a:t>Run claude.</a:t>
            </a:r>
          </a:p>
          <a:p>
            <a:pPr>
              <a:spcAft>
                <a:spcPts val="900"/>
              </a:spcAft>
              <a:defRPr sz="1700"/>
            </a:pPr>
            <a:r>
              <a:t>Ask Claude to explain the repository.</a:t>
            </a:r>
          </a:p>
          <a:p>
            <a:pPr>
              <a:spcAft>
                <a:spcPts val="900"/>
              </a:spcAft>
              <a:defRPr sz="1700"/>
            </a:pPr>
            <a:r>
              <a:t>Run /init if project guidance is needed.</a:t>
            </a:r>
          </a:p>
          <a:p>
            <a:pPr>
              <a:spcAft>
                <a:spcPts val="900"/>
              </a:spcAft>
              <a:defRPr sz="1700"/>
            </a:pPr>
            <a:r>
              <a:t>Ask for a small change and test it.</a:t>
            </a:r>
          </a:p>
          <a:p>
            <a:pPr>
              <a:spcAft>
                <a:spcPts val="900"/>
              </a:spcAft>
              <a:defRPr sz="1700"/>
            </a:pPr>
            <a:r>
              <a:t>Review git diff, then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git clone &lt;repo&gt;</a:t>
            </a:r>
            <a:br/>
            <a:r>
              <a:t>cd &lt;repo&gt;</a:t>
            </a:r>
            <a:br/>
            <a:r>
              <a:t>claude</a:t>
            </a:r>
            <a:br/>
            <a:br/>
            <a:r>
              <a:t>/init</a:t>
            </a:r>
            <a:br/>
            <a:br/>
            <a:r>
              <a:t>“Explain this repository.”</a:t>
            </a:r>
            <a:br/>
            <a:r>
              <a:t>“Add a unit test for X.”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Starting Claude Code outside the intended project.</a:t>
            </a:r>
          </a:p>
          <a:p>
            <a:pPr>
              <a:spcAft>
                <a:spcPts val="900"/>
              </a:spcAft>
              <a:defRPr sz="1700"/>
            </a:pPr>
            <a:r>
              <a:t>Giving a huge vague prompt.</a:t>
            </a:r>
          </a:p>
          <a:p>
            <a:pPr>
              <a:spcAft>
                <a:spcPts val="900"/>
              </a:spcAft>
              <a:defRPr sz="1700"/>
            </a:pPr>
            <a:r>
              <a:t>Skipping tests after changes.</a:t>
            </a:r>
          </a:p>
          <a:p>
            <a:pPr>
              <a:spcAft>
                <a:spcPts val="900"/>
              </a:spcAft>
              <a:defRPr sz="1700"/>
            </a:pPr>
            <a:r>
              <a:t>Accepting changes without reviewing the diff.</a:t>
            </a:r>
          </a:p>
          <a:p>
            <a:pPr>
              <a:spcAft>
                <a:spcPts val="900"/>
              </a:spcAft>
              <a:defRPr sz="1700"/>
            </a:pPr>
            <a:r>
              <a:t>Putting secrets into CLAUDE.md.</a:t>
            </a:r>
          </a:p>
          <a:p>
            <a:pPr>
              <a:spcAft>
                <a:spcPts val="900"/>
              </a:spcAft>
              <a:defRPr sz="1700"/>
            </a:pPr>
            <a:r>
              <a:t>Creating too many skills/agents/hooks too early.</a:t>
            </a:r>
          </a:p>
          <a:p>
            <a:pPr>
              <a:spcAft>
                <a:spcPts val="900"/>
              </a:spcAft>
              <a:defRPr sz="1700"/>
            </a:pPr>
            <a:r>
              <a:t>Giving broad permissions without understanding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BAD: “Rewrite the whole app.”</a:t>
            </a:r>
            <a:br/>
            <a:br/>
            <a:r>
              <a:t>BETTER:</a:t>
            </a:r>
            <a:br/>
            <a:r>
              <a:t>“Inspect the login module.</a:t>
            </a:r>
            <a:br/>
            <a:r>
              <a:t>Propose a small fix first.”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26. Cheat Sheet —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57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CLAUDE.md = project instructions</a:t>
            </a:r>
          </a:p>
          <a:p>
            <a:pPr>
              <a:spcAft>
                <a:spcPts val="900"/>
              </a:spcAft>
              <a:defRPr sz="1700"/>
            </a:pPr>
            <a:r>
              <a:t>.claude/settings.json = configuration / permissions</a:t>
            </a:r>
          </a:p>
          <a:p>
            <a:pPr>
              <a:spcAft>
                <a:spcPts val="900"/>
              </a:spcAft>
              <a:defRPr sz="1700"/>
            </a:pPr>
            <a:r>
              <a:t>Skills = reusable workflows / knowledge</a:t>
            </a:r>
          </a:p>
          <a:p>
            <a:pPr>
              <a:spcAft>
                <a:spcPts val="900"/>
              </a:spcAft>
              <a:defRPr sz="1700"/>
            </a:pPr>
            <a:r>
              <a:t>Agents = specialized isolated workers</a:t>
            </a:r>
          </a:p>
          <a:p>
            <a:pPr>
              <a:spcAft>
                <a:spcPts val="900"/>
              </a:spcAft>
              <a:defRPr sz="1700"/>
            </a:pPr>
            <a:r>
              <a:t>Hooks = event-driven automation</a:t>
            </a:r>
          </a:p>
          <a:p>
            <a:pPr>
              <a:spcAft>
                <a:spcPts val="900"/>
              </a:spcAft>
              <a:defRPr sz="1700"/>
            </a:pPr>
            <a:r>
              <a:t>/help = discover commands</a:t>
            </a:r>
          </a:p>
          <a:p>
            <a:pPr>
              <a:spcAft>
                <a:spcPts val="900"/>
              </a:spcAft>
              <a:defRPr sz="1700"/>
            </a:pPr>
            <a:r>
              <a:t>/init = initialize project guidance</a:t>
            </a:r>
          </a:p>
          <a:p>
            <a:pPr>
              <a:spcAft>
                <a:spcPts val="900"/>
              </a:spcAft>
              <a:defRPr sz="1700"/>
            </a:pPr>
            <a:r>
              <a:t>/plan = plan before changing</a:t>
            </a:r>
          </a:p>
          <a:p>
            <a:pPr>
              <a:spcAft>
                <a:spcPts val="900"/>
              </a:spcAft>
              <a:defRPr sz="1700"/>
            </a:pPr>
            <a:r>
              <a:t>git diff = review changes</a:t>
            </a:r>
          </a:p>
          <a:p>
            <a:pPr>
              <a:spcAft>
                <a:spcPts val="900"/>
              </a:spcAft>
              <a:defRPr sz="1700"/>
            </a:pPr>
            <a:r>
              <a:t>Tests = verify the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nsolas"/>
              </a:defRPr>
            </a:pPr>
            <a:r>
              <a:t>CLAUDE CODE</a:t>
            </a:r>
            <a:br/>
            <a:r>
              <a:t>│</a:t>
            </a:r>
            <a:br/>
            <a:r>
              <a:t>├── Understand</a:t>
            </a:r>
            <a:br/>
            <a:r>
              <a:t>├── Plan</a:t>
            </a:r>
            <a:br/>
            <a:r>
              <a:t>├── Change</a:t>
            </a:r>
            <a:br/>
            <a:r>
              <a:t>├── Test</a:t>
            </a:r>
            <a:br/>
            <a:r>
              <a:t>└── Review</a:t>
            </a:r>
            <a:br/>
            <a:br/>
            <a:r>
              <a:t>Start simple.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current Claude Code documentation •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