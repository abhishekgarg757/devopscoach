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YAML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From indentation to real DevOps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3200400"/>
            <a:ext cx="3840480" cy="192024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9248" y="3364992"/>
            <a:ext cx="3438144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scadia Mono"/>
              </a:defRPr>
            </a:pPr>
            <a:r>
              <a:t>service: payments</a:t>
            </a:r>
            <a:br/>
            <a:r>
              <a:t>port: 8080</a:t>
            </a:r>
            <a:br/>
            <a:r>
              <a:t>version: 1.7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Why YAML matters in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 transcript presents YAML as a widely used configuration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Human-readable configuration format</a:t>
            </a:r>
          </a:p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Used by tools such as Docker Compose, Kubernetes and Prometheus</a:t>
            </a:r>
          </a:p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Represents structured data using keys, values, indentation and lists</a:t>
            </a:r>
          </a:p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Learning YAML makes tool-specific configuration easier to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457200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609344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029968"/>
            <a:ext cx="4206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YAML gives the structure; the tool gives each key its meaning.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965960" cy="7315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953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YAML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749039"/>
            <a:ext cx="1965960" cy="731520"/>
          </a:xfrm>
          <a:prstGeom prst="round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8953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1965960" cy="731520"/>
          </a:xfrm>
          <a:prstGeom prst="roundRect">
            <a:avLst/>
          </a:prstGeom>
          <a:solidFill>
            <a:srgbClr val="3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8953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749039"/>
            <a:ext cx="1965960" cy="731520"/>
          </a:xfrm>
          <a:prstGeom prst="roundRect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38953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YAML, JSON and 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Same goal: represent structured data with different syntax.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30175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3163824" cy="2688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service: payments</a:t>
            </a:r>
            <a:br/>
            <a:r>
              <a:t>port: 8080</a:t>
            </a:r>
            <a:br/>
            <a:r>
              <a:t>version: 1.7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566160" cy="30175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627632"/>
            <a:ext cx="3163824" cy="2688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scadia Mono"/>
              </a:defRPr>
            </a:pPr>
            <a:r>
              <a:t>{"service":"payments",</a:t>
            </a:r>
            <a:br/>
            <a:r>
              <a:t> "port":8080,</a:t>
            </a:r>
            <a:br/>
            <a:r>
              <a:t> "version":"1.7"}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20700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566160" cy="30175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627632"/>
            <a:ext cx="3163824" cy="2688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Cascadia Mono"/>
              </a:defRPr>
            </a:pPr>
            <a:r>
              <a:t>&lt;service&gt;payments&lt;/service&gt;</a:t>
            </a:r>
            <a:br/>
            <a:r>
              <a:t>&lt;port&gt;8080&lt;/port&gt;</a:t>
            </a:r>
            <a:br/>
            <a:r>
              <a:t>&lt;version&gt;1.7&lt;/version&gt;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XML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892040"/>
            <a:ext cx="7955279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038344"/>
            <a:ext cx="7589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Key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458968"/>
            <a:ext cx="7589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YAML relies heavily on line breaks and indentation instead of brackets or closing tags.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#1 YAML rule: indentation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Indentation is syntax — not decoration.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4754880" cy="320040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352544" cy="287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scadia Mono"/>
              </a:defRPr>
            </a:pPr>
            <a:r>
              <a:t>app:</a:t>
            </a:r>
            <a:br/>
            <a:r>
              <a:t>  name: payments</a:t>
            </a:r>
            <a:br/>
            <a:r>
              <a:t>  port: 8080</a:t>
            </a:r>
            <a:br/>
            <a:r>
              <a:t>  version: 1.7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4846320" cy="320040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581912"/>
            <a:ext cx="4443983" cy="287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8FAFC"/>
                </a:solidFill>
                <a:latin typeface="Cascadia Mono"/>
              </a:defRPr>
            </a:pPr>
            <a:r>
              <a:t>app:</a:t>
            </a:r>
            <a:br/>
            <a:r>
              <a:t> name: payments</a:t>
            </a:r>
            <a:br/>
            <a:r>
              <a:t>   port: 8080  # ❌</a:t>
            </a:r>
            <a:br/>
            <a:r>
              <a:t>  version: 1.7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892040"/>
            <a:ext cx="8321040" cy="91440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5038344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Think in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458968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Same indentation = same level. More indentation = child / nested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Key → Value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 basic building block of YAML.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338328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43525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8FAFC"/>
                </a:solidFill>
                <a:latin typeface="Cascadia Mono"/>
              </a:defRPr>
            </a:pPr>
            <a:r>
              <a:t>name: payments</a:t>
            </a:r>
            <a:br/>
            <a:r>
              <a:t>port: 8080</a:t>
            </a:r>
            <a:br/>
            <a:r>
              <a:t>version: 1.7</a:t>
            </a:r>
            <a:br/>
            <a:r>
              <a:t>enabled: 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609344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29968"/>
            <a:ext cx="1920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The attribute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46304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609344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029968"/>
            <a:ext cx="1920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The data assigned to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834640"/>
            <a:ext cx="480060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980944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Common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01568"/>
            <a:ext cx="4434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strings • numbers • booleans • lists •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389120"/>
            <a:ext cx="480060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535424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Quotes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956048"/>
            <a:ext cx="4434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Strings can be quoted when useful; special characters may require quoting.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Objects: group related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Indentation creates hierarchy.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46320" cy="338328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81912"/>
            <a:ext cx="4443983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scadia Mono"/>
              </a:defRPr>
            </a:pPr>
            <a:r>
              <a:t>service:</a:t>
            </a:r>
            <a:br/>
            <a:r>
              <a:t>  name: payments</a:t>
            </a:r>
            <a:br/>
            <a:r>
              <a:t>  port: 8080</a:t>
            </a:r>
            <a:br/>
            <a:r>
              <a:t>  version: 1.7</a:t>
            </a:r>
            <a:br/>
            <a:r>
              <a:t>  deployed: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</a:defRPr>
            </a:pPr>
            <a:r>
              <a:t>• service is the parent object</a:t>
            </a:r>
          </a:p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</a:defRPr>
            </a:pPr>
            <a:r>
              <a:t>• name / port / version are nested attributes</a:t>
            </a:r>
          </a:p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</a:defRPr>
            </a:pPr>
            <a:r>
              <a:t>• Sibling attributes stay aligned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Lists: the - means “item”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Use lists for multiple values or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4846320" cy="310896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443983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scadia Mono"/>
              </a:defRPr>
            </a:pPr>
            <a:r>
              <a:t>services:</a:t>
            </a:r>
            <a:br/>
            <a:r>
              <a:t>  - payments</a:t>
            </a:r>
            <a:br/>
            <a:r>
              <a:t>  - catalog</a:t>
            </a:r>
            <a:br/>
            <a:r>
              <a:t>  -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16128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SIMPLE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417320"/>
            <a:ext cx="5303520" cy="310896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1581912"/>
            <a:ext cx="4901183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containers:</a:t>
            </a:r>
            <a:br/>
            <a:r>
              <a:t>  - name: app</a:t>
            </a:r>
            <a:br/>
            <a:r>
              <a:t>    image: nginx</a:t>
            </a:r>
            <a:br/>
            <a:r>
              <a:t>  - name: sidecar</a:t>
            </a:r>
            <a:br/>
            <a:r>
              <a:t>    image: curlimages/curl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6128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LIST OF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983480"/>
            <a:ext cx="758952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129784"/>
            <a:ext cx="7223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550408"/>
            <a:ext cx="7223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List items at the same level should align consistently.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Two ways to write simple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Block style and flow style can represent a list.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4663440" cy="310896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673351"/>
            <a:ext cx="4261103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8FAFC"/>
                </a:solidFill>
                <a:latin typeface="Cascadia Mono"/>
              </a:defRPr>
            </a:pPr>
            <a:r>
              <a:t>ports:</a:t>
            </a:r>
            <a:br/>
            <a:r>
              <a:t>  - 8080</a:t>
            </a:r>
            <a:br/>
            <a:r>
              <a:t>  - 8081</a:t>
            </a:r>
            <a:br/>
            <a:r>
              <a:t>  - 9090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52728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BLOCK STYLE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4663440" cy="21031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673351"/>
            <a:ext cx="4261103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8FAFC"/>
                </a:solidFill>
                <a:latin typeface="Cascadia Mono"/>
              </a:defRPr>
            </a:pPr>
            <a:r>
              <a:t>ports: [8080, 8081, 9090]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252728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6CDF"/>
                </a:solidFill>
              </a:defRPr>
            </a:pPr>
            <a:r>
              <a:t>FLOW 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800600"/>
            <a:ext cx="850392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946904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When to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367528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Flow style is compact for short primitive lists; block style is easier to extend.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Booleans and 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Small syntax details matter.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4754880" cy="329184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627632"/>
            <a:ext cx="4352544" cy="2962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scadia Mono"/>
              </a:defRPr>
            </a:pPr>
            <a:r>
              <a:t>deployed: true</a:t>
            </a:r>
            <a:br/>
            <a:r>
              <a:t>healthy: false</a:t>
            </a:r>
            <a:br/>
            <a:r>
              <a:t># This is a comment</a:t>
            </a:r>
            <a:br/>
            <a:r>
              <a:t>replicas: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Boolean examples: true / false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The transcript also demonstrates yes/no and on/off forms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Anything after # is a comment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Comments improve readability without changing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Nested lists +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Real configuration combines the basic building blocks.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39319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36192"/>
            <a:ext cx="5266944" cy="3602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services:</a:t>
            </a:r>
            <a:br/>
            <a:r>
              <a:t>  - name: payments</a:t>
            </a:r>
            <a:br/>
            <a:r>
              <a:t>    ports:</a:t>
            </a:r>
            <a:br/>
            <a:r>
              <a:t>      - 8080</a:t>
            </a:r>
            <a:br/>
            <a:r>
              <a:t>      - 8443</a:t>
            </a:r>
            <a:br/>
            <a:r>
              <a:t>    versions: [1.7, 1.8]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11480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792224"/>
            <a:ext cx="3749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Read it top-down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12848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services → item → ports → values → versions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474720"/>
            <a:ext cx="41148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621024"/>
            <a:ext cx="3749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Debugging trick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041648"/>
            <a:ext cx="374903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Follow indentation one level at a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Kubernetes: YAML becomes practical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 transcript uses a Pod configuration to show real nested YAML.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583680" cy="457200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44751"/>
            <a:ext cx="6181344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scadia Mono"/>
              </a:defRPr>
            </a:pPr>
            <a:r>
              <a:t>apiVersion: v1</a:t>
            </a:r>
            <a:br/>
            <a:r>
              <a:t>kind: Pod</a:t>
            </a:r>
            <a:br/>
            <a:r>
              <a:t>metadata:</a:t>
            </a:r>
            <a:br/>
            <a:r>
              <a:t>  name: nginx-pod</a:t>
            </a:r>
            <a:br/>
            <a:r>
              <a:t>  labels:</a:t>
            </a:r>
            <a:br/>
            <a:r>
              <a:t>    app: nginx</a:t>
            </a:r>
            <a:br/>
            <a:r>
              <a:t>spec:</a:t>
            </a:r>
            <a:br/>
            <a:r>
              <a:t>  containers:</a:t>
            </a:r>
            <a:br/>
            <a:r>
              <a:t>    - name: nginx</a:t>
            </a:r>
            <a:br/>
            <a:r>
              <a:t>      image: nginx:latest</a:t>
            </a:r>
            <a:br/>
            <a:r>
              <a:t>      ports:</a:t>
            </a:r>
            <a:br/>
            <a:r>
              <a:t>        - containerPort: 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137160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92224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Notice the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12848"/>
            <a:ext cx="3474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key/value → object → list → object → nested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474720"/>
            <a:ext cx="3840480" cy="137160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621024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41648"/>
            <a:ext cx="3474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Large manifests are still built from a few YAML primitives.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Anatomy of a Kubernetes Pod 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Map YAML syntax to resource meaning.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72184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apiVersion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92807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Which API 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25880"/>
            <a:ext cx="507492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72184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kind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92807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What resource to 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507492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4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Identity +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880360"/>
            <a:ext cx="507492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26664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4728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Desired configuration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507492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81144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containers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A list of container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Lists inside lists: containers &amp;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A Kubernetes manifest is a great YAML syntax exercise.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5486400" cy="402336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581912"/>
            <a:ext cx="508406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8FAFC"/>
                </a:solidFill>
                <a:latin typeface="Cascadia Mono"/>
              </a:defRPr>
            </a:pPr>
            <a:r>
              <a:t>containers:</a:t>
            </a:r>
            <a:br/>
            <a:r>
              <a:t>  - name: nginx</a:t>
            </a:r>
            <a:br/>
            <a:r>
              <a:t>    image: nginx</a:t>
            </a:r>
            <a:br/>
            <a:r>
              <a:t>    ports:</a:t>
            </a:r>
            <a:br/>
            <a:r>
              <a:t>      - containerPort: 80</a:t>
            </a:r>
            <a:br/>
            <a:r>
              <a:t>      - containerPort: 443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55448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containers is a list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Each - starts one container object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ports is another list inside the container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Each port item is another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Multi-line strings: |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Use the pipe when line breaks are part of the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394960" cy="356616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27632"/>
            <a:ext cx="4992624" cy="3236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8FAFC"/>
                </a:solidFill>
                <a:latin typeface="Cascadia Mono"/>
              </a:defRPr>
            </a:pPr>
            <a:r>
              <a:t>script: |</a:t>
            </a:r>
            <a:br/>
            <a:r>
              <a:t>  #!/bin/sh</a:t>
            </a:r>
            <a:br/>
            <a:r>
              <a:t>  echo "Starting app"</a:t>
            </a:r>
            <a:br/>
            <a:r>
              <a:t>  ./deploy.sh</a:t>
            </a:r>
            <a:br/>
            <a:r>
              <a:t>  echo "Done"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29768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00784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What YAML preserves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21408"/>
            <a:ext cx="39319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The indented lines become one multi-line string.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154680"/>
            <a:ext cx="429768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300984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Common DevOps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21608"/>
            <a:ext cx="39319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Scripts • config snippets • commands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709160"/>
            <a:ext cx="42976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855464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Indentation still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276088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Content under | must be indented consistently.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Folded strings: 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Use &gt; when readable multi-line source should become one logical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669280" cy="34747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27632"/>
            <a:ext cx="5266944" cy="3145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8FAFC"/>
                </a:solidFill>
                <a:latin typeface="Cascadia Mono"/>
              </a:defRPr>
            </a:pPr>
            <a:r>
              <a:t>description: &gt;</a:t>
            </a:r>
            <a:br/>
            <a:r>
              <a:t>  This is a long description</a:t>
            </a:r>
            <a:br/>
            <a:r>
              <a:t>  written across several lines</a:t>
            </a:r>
            <a:br/>
            <a:r>
              <a:t>  but interpreted as one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37360"/>
            <a:ext cx="4297680" cy="201168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1901952"/>
            <a:ext cx="3895344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Cascadia Mono"/>
              </a:defRPr>
            </a:pPr>
            <a:r>
              <a:t>description: This is a long description written across several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937760"/>
            <a:ext cx="7863840" cy="91440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5084064"/>
            <a:ext cx="7498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50468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| keeps line breaks; &gt; folds the lines into a single logical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Environment variables in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 transcript shows variables referenced from inside configuration.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11480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36192"/>
            <a:ext cx="5084064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env:</a:t>
            </a:r>
            <a:br/>
            <a:r>
              <a:t>  - name: DB_HOST</a:t>
            </a:r>
            <a:br/>
            <a:r>
              <a:t>    value: postgres</a:t>
            </a:r>
            <a:br/>
            <a:r>
              <a:t>  - name: DB_USER</a:t>
            </a:r>
            <a:br/>
            <a:r>
              <a:t>    value: appuser</a:t>
            </a:r>
            <a:br/>
            <a:br/>
            <a:r>
              <a:t># Shell usage:</a:t>
            </a:r>
            <a:br/>
            <a:r>
              <a:t>echo "$DB_HOST"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554480"/>
            <a:ext cx="4206240" cy="173736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00784"/>
            <a:ext cx="3840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Important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21408"/>
            <a:ext cx="38404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YAML stores configuration structure. The platform or application determines variable substitution.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657600"/>
            <a:ext cx="4206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803904"/>
            <a:ext cx="3840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Good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24528"/>
            <a:ext cx="38404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Keep secrets out of plain YAML; use supported secret-management mechanisms.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Placeholders &amp;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 transcript introduces {{ ... }} as placeholder syntax used by templating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5212080" cy="246888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719072"/>
            <a:ext cx="480974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scadia Mono"/>
              </a:defRPr>
            </a:pPr>
            <a:r>
              <a:t>image: myapp:{{ .Values.version }}</a:t>
            </a:r>
            <a:br/>
            <a:r>
              <a:t>replicas: {{ .Values.replicas 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965960" cy="7315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183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572000"/>
            <a:ext cx="1965960" cy="731520"/>
          </a:xfrm>
          <a:prstGeom prst="round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7183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1965960" cy="731520"/>
          </a:xfrm>
          <a:prstGeom prst="roundRect">
            <a:avLst/>
          </a:prstGeom>
          <a:solidFill>
            <a:srgbClr val="3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7183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572000"/>
            <a:ext cx="1965960" cy="731520"/>
          </a:xfrm>
          <a:prstGeom prst="roundRect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47183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4592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This is not plain YAML by itself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A templating engine replaces placeholders before deployment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</a:defRPr>
            </a:pPr>
            <a:r>
              <a:t>• Helm is a common Kubernetes templating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Multiple documents in one YAML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Separate documents with ---.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5577840" cy="411480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536192"/>
            <a:ext cx="5175503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apiVersion: v1</a:t>
            </a:r>
            <a:br/>
            <a:r>
              <a:t>kind: ConfigMap</a:t>
            </a:r>
            <a:br/>
            <a:r>
              <a:t>metadata:</a:t>
            </a:r>
            <a:br/>
            <a:r>
              <a:t>  name: app-config</a:t>
            </a:r>
            <a:br/>
            <a:r>
              <a:t>---</a:t>
            </a:r>
            <a:br/>
            <a:r>
              <a:t>apiVersion: v1</a:t>
            </a:r>
            <a:br/>
            <a:r>
              <a:t>kind: Secret</a:t>
            </a:r>
            <a:br/>
            <a:r>
              <a:t>metadata:</a:t>
            </a:r>
            <a:br/>
            <a:r>
              <a:t>  name: app-secret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554480"/>
            <a:ext cx="3749039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700784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Document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12140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ConfigMap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834640"/>
            <a:ext cx="3749039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980944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Document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40156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Secret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160520"/>
            <a:ext cx="3749039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4306824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Why useful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727448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Group related resources in one manifest when that improves manageability.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Validate before you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 transcript emphasizes validation because indentation errors can break configuration.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65960" cy="7315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751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Write 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1965960" cy="731520"/>
          </a:xfrm>
          <a:prstGeom prst="round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9751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1965960" cy="731520"/>
          </a:xfrm>
          <a:prstGeom prst="roundRect">
            <a:avLst/>
          </a:prstGeom>
          <a:solidFill>
            <a:srgbClr val="3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751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Apply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1965960" cy="731520"/>
          </a:xfrm>
          <a:prstGeom prst="roundRect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9751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154680"/>
            <a:ext cx="8138160" cy="214884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3319272"/>
            <a:ext cx="7735824" cy="181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# Example Kubernetes checks</a:t>
            </a:r>
            <a:br/>
            <a:r>
              <a:t>kubectl apply --dry-run=client -f pod.yaml</a:t>
            </a:r>
            <a:br/>
            <a:br/>
            <a:r>
              <a:t># Then:</a:t>
            </a:r>
            <a:br/>
            <a:r>
              <a:t>kubectl apply -f pod.yaml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Most YAML problems are structural.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74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636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Wrong indentation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Child keys no longer belong to intended 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74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636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Misaligned list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842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- items are at different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474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636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Wrong value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842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String vs number vs boolean changes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74720"/>
            <a:ext cx="3474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210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Missing colon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key/value syntax is broken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474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210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416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Use spaces consistently for indentation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474720"/>
            <a:ext cx="3474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6210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Tool schema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0416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Valid YAML can still be invalid for Kubernetes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Valid YAML ≠ valid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There are two different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92224"/>
            <a:ext cx="4754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1 — YAML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4754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Can a YAML parser read this structure?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2064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92224"/>
            <a:ext cx="4754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2 — Tool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12848"/>
            <a:ext cx="4754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Does Kubernetes / GitHub Actions / Docker understand these keys?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965960" cy="7315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239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YAML parser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77639"/>
            <a:ext cx="1965960" cy="731520"/>
          </a:xfrm>
          <a:prstGeom prst="round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1239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Tool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1965960" cy="731520"/>
          </a:xfrm>
          <a:prstGeom prst="roundRect">
            <a:avLst/>
          </a:prstGeom>
          <a:solidFill>
            <a:srgbClr val="3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12394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From YAML basics to DevOps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Once syntax is familiar, tool-specific YAML becomes easier to 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55063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workflows → jobs →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55063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Kubernetes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7568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resources → metadata → spec → containers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508760"/>
            <a:ext cx="3383280" cy="132588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655063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07568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services → images → ports → volumes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291840"/>
            <a:ext cx="8412480" cy="21031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9968" y="3456432"/>
            <a:ext cx="8010144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scadia Mono"/>
              </a:defRPr>
            </a:pPr>
            <a:r>
              <a:t>name: CI</a:t>
            </a:r>
            <a:br/>
            <a:r>
              <a:t>on: [push]</a:t>
            </a:r>
            <a:br/>
            <a:r>
              <a:t>jobs:</a:t>
            </a:r>
            <a:br/>
            <a:r>
              <a:t>  build: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run: npm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Mini exercise: build a service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Use only the YAML primitives from the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Create an app object</a:t>
            </a:r>
          </a:p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Add name, image, port and enabled</a:t>
            </a:r>
          </a:p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Add two environments as a list</a:t>
            </a:r>
          </a:p>
          <a:p>
            <a:pPr>
              <a:spcAft>
                <a:spcPts val="1100"/>
              </a:spcAft>
              <a:defRPr sz="1900">
                <a:solidFill>
                  <a:srgbClr val="202A3A"/>
                </a:solidFill>
              </a:defRPr>
            </a:pPr>
            <a:r>
              <a:t>• Add a health-check command as a multi-line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325880"/>
            <a:ext cx="5394960" cy="438912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53328" y="1490472"/>
            <a:ext cx="4992624" cy="4059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Cascadia Mono"/>
              </a:defRPr>
            </a:pPr>
            <a:r>
              <a:t>app:</a:t>
            </a:r>
            <a:br/>
            <a:r>
              <a:t>  name: payments</a:t>
            </a:r>
            <a:br/>
            <a:r>
              <a:t>  image: nginx</a:t>
            </a:r>
            <a:br/>
            <a:r>
              <a:t>  port: 8080</a:t>
            </a:r>
            <a:br/>
            <a:r>
              <a:t>  enabled: true</a:t>
            </a:r>
            <a:br/>
            <a:r>
              <a:t>  environments:</a:t>
            </a:r>
            <a:br/>
            <a:r>
              <a:t>    - dev</a:t>
            </a:r>
            <a:br/>
            <a:r>
              <a:t>    - prod</a:t>
            </a:r>
            <a:br/>
            <a:r>
              <a:t>  healthCheck: |</a:t>
            </a:r>
            <a:br/>
            <a:r>
              <a:t>    echo "checking"</a:t>
            </a:r>
            <a:br/>
            <a:r>
              <a:t>    curl localhost:8080/health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Can you explain the structure without memorizing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118872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72184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Why does indentation matter?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166360" cy="118872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72184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92807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What does - mean?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166360" cy="118872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26664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47288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When would you use |?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80360"/>
            <a:ext cx="5166360" cy="118872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26664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47288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What does --- separate?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5166360" cy="118872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81144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01768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Can valid YAML still fail in Kubernetes?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34840"/>
            <a:ext cx="5166360" cy="1188720"/>
          </a:xfrm>
          <a:prstGeom prst="roundRect">
            <a:avLst/>
          </a:prstGeom>
          <a:solidFill>
            <a:srgbClr val="222D3F"/>
          </a:solidFill>
          <a:ln>
            <a:solidFill>
              <a:srgbClr val="4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581144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01768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8EEF6"/>
                </a:solidFill>
              </a:defRPr>
            </a:pPr>
            <a:r>
              <a:t>How is an object different from a list?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C2D"/>
                </a:solidFill>
              </a:defRPr>
            </a:pPr>
            <a:r>
              <a:t>YAML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Remember these building blocks and most DevOps YAML becomes readable.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965960" cy="7315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465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Key :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00200"/>
            <a:ext cx="1965960" cy="731520"/>
          </a:xfrm>
          <a:prstGeom prst="roundRect">
            <a:avLst/>
          </a:prstGeom>
          <a:solidFill>
            <a:srgbClr val="2D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7465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1965960" cy="731520"/>
          </a:xfrm>
          <a:prstGeom prst="roundRect">
            <a:avLst/>
          </a:prstGeom>
          <a:solidFill>
            <a:srgbClr val="3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465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00200"/>
            <a:ext cx="1965960" cy="731520"/>
          </a:xfrm>
          <a:prstGeom prst="roundRect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4650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Nested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00984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Indentation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Defines hierarchy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1546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300984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216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Defines list 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00984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| / 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216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Controls multi-line strings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1546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300984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---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216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Separates YAML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892040"/>
            <a:ext cx="850392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038344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C2D"/>
                </a:solidFill>
              </a:defRPr>
            </a:pPr>
            <a:r>
              <a:t>Final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458968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02A3A"/>
                </a:solidFill>
              </a:defRPr>
            </a:pPr>
            <a:r>
              <a:t>Learn YAML once → reuse the syntax across many DevOps tools. Then learn each tool's schema.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Practical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5B9"/>
                </a:solidFill>
              </a:defRPr>
            </a:pPr>
            <a:r>
              <a:t>Read YAML top-to-bottom, following indentation.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508760"/>
            <a:ext cx="6583680" cy="4206240"/>
          </a:xfrm>
          <a:prstGeom prst="roundRect">
            <a:avLst/>
          </a:prstGeom>
          <a:solidFill>
            <a:srgbClr val="1B222D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35808" y="1673351"/>
            <a:ext cx="6181344" cy="3877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scadia Mono"/>
              </a:defRPr>
            </a:pPr>
            <a:r>
              <a:t>apiVersion: v1</a:t>
            </a:r>
            <a:br/>
            <a:r>
              <a:t>kind: Pod</a:t>
            </a:r>
            <a:br/>
            <a:r>
              <a:t>metadata:</a:t>
            </a:r>
            <a:br/>
            <a:r>
              <a:t>  name: demo</a:t>
            </a:r>
            <a:br/>
            <a:r>
              <a:t>spec:</a:t>
            </a:r>
            <a:br/>
            <a:r>
              <a:t>  containers:</a:t>
            </a:r>
            <a:br/>
            <a:r>
              <a:t>    - name: app</a:t>
            </a:r>
            <a:br/>
            <a:r>
              <a:t>      image: nginx</a:t>
            </a:r>
            <a:br/>
            <a:r>
              <a:t>      ports:</a:t>
            </a:r>
            <a:br/>
            <a:r>
              <a:t>        - containerPort: 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DB4BE"/>
                </a:solidFill>
              </a:defRPr>
            </a:pPr>
            <a:r>
              <a:t>Key → Object → List → Object → List →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5B9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