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CI/CD for Beginners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B9CDE6"/>
                </a:solidFill>
                <a:latin typeface="Aptos"/>
              </a:rPr>
              <a:t>From code change → tested build → safe production release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3794760"/>
            <a:ext cx="777240" cy="777240"/>
          </a:xfrm>
          <a:prstGeom prst="ellipse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58768"/>
            <a:ext cx="777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6817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4187952"/>
            <a:ext cx="685800" cy="0"/>
          </a:xfrm>
          <a:prstGeom prst="line">
            <a:avLst/>
          </a:prstGeom>
          <a:ln w="27940">
            <a:solidFill>
              <a:srgbClr val="96AA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063240" y="3794760"/>
            <a:ext cx="777240" cy="777240"/>
          </a:xfrm>
          <a:prstGeom prst="ellipse">
            <a:avLst/>
          </a:prstGeom>
          <a:solidFill>
            <a:srgbClr val="28B4BE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3858768"/>
            <a:ext cx="777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46817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4187952"/>
            <a:ext cx="685800" cy="0"/>
          </a:xfrm>
          <a:prstGeom prst="line">
            <a:avLst/>
          </a:prstGeom>
          <a:ln w="27940">
            <a:solidFill>
              <a:srgbClr val="96AA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212080" y="3794760"/>
            <a:ext cx="777240" cy="777240"/>
          </a:xfrm>
          <a:prstGeom prst="ellipse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3858768"/>
            <a:ext cx="777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46817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4187952"/>
            <a:ext cx="685800" cy="0"/>
          </a:xfrm>
          <a:prstGeom prst="line">
            <a:avLst/>
          </a:prstGeom>
          <a:ln w="27940">
            <a:solidFill>
              <a:srgbClr val="96AA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60920" y="3794760"/>
            <a:ext cx="777240" cy="777240"/>
          </a:xfrm>
          <a:prstGeom prst="ellipse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3858768"/>
            <a:ext cx="777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8" y="46817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RELEASE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83880" y="4187952"/>
            <a:ext cx="685800" cy="0"/>
          </a:xfrm>
          <a:prstGeom prst="line">
            <a:avLst/>
          </a:prstGeom>
          <a:ln w="27940">
            <a:solidFill>
              <a:srgbClr val="96AA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509760" y="3794760"/>
            <a:ext cx="777240" cy="777240"/>
          </a:xfrm>
          <a:prstGeom prst="ellipse">
            <a:avLst/>
          </a:prstGeom>
          <a:solidFill>
            <a:srgbClr val="7855BE"/>
          </a:solidFill>
          <a:ln>
            <a:solidFill>
              <a:srgbClr val="78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3858768"/>
            <a:ext cx="777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8" y="46817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0B4CD"/>
                </a:solidFill>
                <a:latin typeface="Aptos"/>
              </a:rPr>
              <a:t>A practical session built from the provided beginner CI/CD knowledge 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What you will learn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417320"/>
            <a:ext cx="475488" cy="475488"/>
          </a:xfrm>
          <a:prstGeom prst="ellipse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26464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399032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8"/>
                </a:solidFill>
                <a:latin typeface="Aptos"/>
              </a:rPr>
              <a:t>CI/CD in practical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99032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What happens after a developer writes code?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77440"/>
            <a:ext cx="475488" cy="475488"/>
          </a:xfrm>
          <a:prstGeom prst="ellipse">
            <a:avLst/>
          </a:prstGeom>
          <a:solidFill>
            <a:srgbClr val="28B4BE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86584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59152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8"/>
                </a:solidFill>
                <a:latin typeface="Aptos"/>
              </a:rPr>
              <a:t>The delivery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59152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Build, test, release and deployment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337560"/>
            <a:ext cx="475488" cy="475488"/>
          </a:xfrm>
          <a:prstGeom prst="ellipse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46704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319272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8"/>
                </a:solidFill>
                <a:latin typeface="Aptos"/>
              </a:rPr>
              <a:t>Why automation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19272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The problems manual delivery creates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297680"/>
            <a:ext cx="475488" cy="475488"/>
          </a:xfrm>
          <a:prstGeom prst="ellipse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06824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279392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8"/>
                </a:solidFill>
                <a:latin typeface="Aptos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279392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GitHub Actions, Jenkins and other CI/CD platforms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257800"/>
            <a:ext cx="475488" cy="475488"/>
          </a:xfrm>
          <a:prstGeom prst="ellipse">
            <a:avLst/>
          </a:prstGeom>
          <a:solidFill>
            <a:srgbClr val="7855BE"/>
          </a:solidFill>
          <a:ln>
            <a:solidFill>
              <a:srgbClr val="78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66944"/>
            <a:ext cx="47548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239512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8"/>
                </a:solidFill>
                <a:latin typeface="Aptos"/>
              </a:rPr>
              <a:t>Deployment strategies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239512"/>
            <a:ext cx="6583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Blue-Green, Canary and Rolling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Start with a familiar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F6978"/>
                </a:solidFill>
                <a:latin typeface="Aptos"/>
              </a:rPr>
              <a:t>Imagine an e-commerce application used by a large team.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828800" cy="416052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1F38"/>
                </a:solidFill>
                <a:latin typeface="Aptos"/>
              </a:rPr>
              <a:t>Developers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286000"/>
            <a:ext cx="502920" cy="502920"/>
          </a:xfrm>
          <a:prstGeom prst="ellipse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322576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F6978"/>
                </a:solidFill>
                <a:latin typeface="Aptos"/>
              </a:rPr>
              <a:t>Dev A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108960"/>
            <a:ext cx="502920" cy="502920"/>
          </a:xfrm>
          <a:prstGeom prst="ellipse">
            <a:avLst/>
          </a:prstGeom>
          <a:solidFill>
            <a:srgbClr val="28B4BE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145536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F6978"/>
                </a:solidFill>
                <a:latin typeface="Aptos"/>
              </a:rPr>
              <a:t>Dev B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931920"/>
            <a:ext cx="502920" cy="502920"/>
          </a:xfrm>
          <a:prstGeom prst="ellipse">
            <a:avLst/>
          </a:prstGeom>
          <a:solidFill>
            <a:srgbClr val="7855BE"/>
          </a:solidFill>
          <a:ln>
            <a:solidFill>
              <a:srgbClr val="78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968496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F6978"/>
                </a:solidFill>
                <a:latin typeface="Aptos"/>
              </a:rPr>
              <a:t>Dev 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2542032"/>
            <a:ext cx="1371600" cy="0"/>
          </a:xfrm>
          <a:prstGeom prst="line">
            <a:avLst/>
          </a:prstGeom>
          <a:ln w="25400">
            <a:solidFill>
              <a:srgbClr val="2D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3364991"/>
            <a:ext cx="1371600" cy="0"/>
          </a:xfrm>
          <a:prstGeom prst="line">
            <a:avLst/>
          </a:prstGeom>
          <a:ln w="25400">
            <a:solidFill>
              <a:srgbClr val="28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23160" y="4187952"/>
            <a:ext cx="1371600" cy="0"/>
          </a:xfrm>
          <a:prstGeom prst="line">
            <a:avLst/>
          </a:prstGeom>
          <a:ln w="25400">
            <a:solidFill>
              <a:srgbClr val="7855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0480" y="1965960"/>
            <a:ext cx="205740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2267712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1F38"/>
                </a:solidFill>
                <a:latin typeface="Aptos"/>
              </a:rPr>
              <a:t>Git repository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2834640"/>
            <a:ext cx="1005840" cy="310896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2843784"/>
            <a:ext cx="1005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3672" y="3337560"/>
            <a:ext cx="1280160" cy="310896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3672" y="3346703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branches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0" y="3291840"/>
            <a:ext cx="1051560" cy="0"/>
          </a:xfrm>
          <a:prstGeom prst="line">
            <a:avLst/>
          </a:prstGeom>
          <a:ln w="3175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086600" y="1554480"/>
            <a:ext cx="4343400" cy="352044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18288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CI/CD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2606040"/>
            <a:ext cx="960120" cy="310896"/>
          </a:xfrm>
          <a:prstGeom prst="roundRect">
            <a:avLst/>
          </a:prstGeom>
          <a:solidFill>
            <a:srgbClr val="28B4BE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261518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58200" y="2761488"/>
            <a:ext cx="201168" cy="0"/>
          </a:xfrm>
          <a:prstGeom prst="line">
            <a:avLst/>
          </a:prstGeom>
          <a:ln w="1905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32519" y="2606040"/>
            <a:ext cx="960120" cy="310896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19" y="261518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92640" y="2761488"/>
            <a:ext cx="201168" cy="0"/>
          </a:xfrm>
          <a:prstGeom prst="line">
            <a:avLst/>
          </a:prstGeom>
          <a:ln w="1905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966959" y="2606040"/>
            <a:ext cx="960120" cy="310896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59" y="2615184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Release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3977639"/>
            <a:ext cx="1325880" cy="310896"/>
          </a:xfrm>
          <a:prstGeom prst="roundRect">
            <a:avLst/>
          </a:prstGeom>
          <a:solidFill>
            <a:srgbClr val="7855BE"/>
          </a:solidFill>
          <a:ln>
            <a:solidFill>
              <a:srgbClr val="78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3986783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5669280"/>
            <a:ext cx="74980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1F38"/>
                </a:solidFill>
                <a:latin typeface="Aptos"/>
              </a:rPr>
              <a:t>The goal: make this flow repeatable and automated.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The software delivery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6596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1" y="2212848"/>
            <a:ext cx="530352" cy="530352"/>
          </a:xfrm>
          <a:prstGeom prst="ellipse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1" y="2267712"/>
            <a:ext cx="5303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8803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1F38"/>
                </a:solidFill>
                <a:latin typeface="Aptos"/>
              </a:rPr>
              <a:t>Develop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310128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Write or modify code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12264" y="2971800"/>
            <a:ext cx="283464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50591" y="196596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80944" y="2212848"/>
            <a:ext cx="530352" cy="530352"/>
          </a:xfrm>
          <a:prstGeom prst="ellipse">
            <a:avLst/>
          </a:prstGeom>
          <a:solidFill>
            <a:srgbClr val="28B4BE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2267712"/>
            <a:ext cx="5303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803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1F38"/>
                </a:solidFill>
                <a:latin typeface="Aptos"/>
              </a:rPr>
              <a:t>Commit &amp; 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310128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Save changes to Git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59935" y="2971800"/>
            <a:ext cx="283465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98264" y="196596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28616" y="2212848"/>
            <a:ext cx="530352" cy="530352"/>
          </a:xfrm>
          <a:prstGeom prst="ellipse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28616" y="2267712"/>
            <a:ext cx="5303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8803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1F38"/>
                </a:solidFill>
                <a:latin typeface="Aptos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310128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Create deployable artifact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07607" y="2971800"/>
            <a:ext cx="283464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45936" y="196596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76288" y="2212848"/>
            <a:ext cx="530352" cy="530352"/>
          </a:xfrm>
          <a:prstGeom prst="ellipse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2267712"/>
            <a:ext cx="5303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8803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1F38"/>
                </a:solidFill>
                <a:latin typeface="Aptos"/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310128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Validate behavior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55279" y="2971800"/>
            <a:ext cx="283465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293608" y="196596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23960" y="2212848"/>
            <a:ext cx="530352" cy="530352"/>
          </a:xfrm>
          <a:prstGeom prst="ellipse">
            <a:avLst/>
          </a:prstGeom>
          <a:solidFill>
            <a:srgbClr val="7855BE"/>
          </a:solidFill>
          <a:ln>
            <a:solidFill>
              <a:srgbClr val="78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2267712"/>
            <a:ext cx="5303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28803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1F38"/>
                </a:solidFill>
                <a:latin typeface="Aptos"/>
              </a:rPr>
              <a:t>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3310128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Prepare for users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02952" y="2971800"/>
            <a:ext cx="283464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241280" y="1965960"/>
            <a:ext cx="1600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771632" y="2212848"/>
            <a:ext cx="530352" cy="530352"/>
          </a:xfrm>
          <a:prstGeom prst="ellipse">
            <a:avLst/>
          </a:prstGeom>
          <a:solidFill>
            <a:srgbClr val="D24646"/>
          </a:solidFill>
          <a:ln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71632" y="2267712"/>
            <a:ext cx="5303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51007" y="288036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1F38"/>
                </a:solidFill>
                <a:latin typeface="Aptos"/>
              </a:rPr>
              <a:t>Deploy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51007" y="3310128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Make it available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4937760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D69D2"/>
                </a:solidFill>
                <a:latin typeface="Aptos"/>
              </a:rPr>
              <a:t>CI/CD automates key parts of this journey.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What exactly is a build?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2004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73152" cy="3977639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Source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2834640" cy="3264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978"/>
                </a:solidFill>
                <a:latin typeface="Aptos"/>
              </a:rPr>
              <a:t>Your application code written by developers.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004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73152" cy="3977639"/>
          </a:xfrm>
          <a:prstGeom prst="roundRect">
            <a:avLst/>
          </a:prstGeom>
          <a:solidFill>
            <a:srgbClr val="28B4BE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58191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1984248"/>
            <a:ext cx="2834640" cy="3264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978"/>
                </a:solidFill>
                <a:latin typeface="Aptos"/>
              </a:rPr>
              <a:t>Libraries, packages and other required components.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417320"/>
            <a:ext cx="32004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73152" cy="3977639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158191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Deployable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1984248"/>
            <a:ext cx="2834640" cy="3264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978"/>
                </a:solidFill>
                <a:latin typeface="Aptos"/>
              </a:rPr>
              <a:t>A package that can be deployed — for example, an APK, binary or executable.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86200" y="3246120"/>
            <a:ext cx="521208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26679" y="3246120"/>
            <a:ext cx="521209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54480" y="5760720"/>
            <a:ext cx="9052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1F38"/>
                </a:solidFill>
                <a:latin typeface="Aptos"/>
              </a:rPr>
              <a:t>Build = turn source + dependencies into something deployable.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Testing is not one thing</a:t>
            </a:r>
          </a:p>
        </p:txBody>
      </p:sp>
      <p:sp>
        <p:nvSpPr>
          <p:cNvPr id="3" name="Oval 2"/>
          <p:cNvSpPr/>
          <p:nvPr/>
        </p:nvSpPr>
        <p:spPr>
          <a:xfrm>
            <a:off x="1554480" y="1508760"/>
            <a:ext cx="685800" cy="685800"/>
          </a:xfrm>
          <a:prstGeom prst="ellipse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58191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6978"/>
                </a:solidFill>
                <a:latin typeface="Aptos"/>
              </a:rPr>
              <a:t>Does this small piece work?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1874519"/>
            <a:ext cx="502920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434840" y="1508760"/>
            <a:ext cx="685800" cy="685800"/>
          </a:xfrm>
          <a:prstGeom prst="ellipse">
            <a:avLst/>
          </a:prstGeom>
          <a:solidFill>
            <a:srgbClr val="28B4BE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58191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46888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01752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6978"/>
                </a:solidFill>
                <a:latin typeface="Aptos"/>
              </a:rPr>
              <a:t>Do components work together?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5000" y="1874519"/>
            <a:ext cx="502920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315200" y="1508760"/>
            <a:ext cx="685800" cy="685800"/>
          </a:xfrm>
          <a:prstGeom prst="ellipse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58191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6978"/>
                </a:solidFill>
                <a:latin typeface="Aptos"/>
              </a:rPr>
              <a:t>Did old functionality still work?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60" y="1874519"/>
            <a:ext cx="502920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195560" y="1508760"/>
            <a:ext cx="685800" cy="685800"/>
          </a:xfrm>
          <a:prstGeom prst="ellipse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1581912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46888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End-to-End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301752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6978"/>
                </a:solidFill>
                <a:latin typeface="Aptos"/>
              </a:rPr>
              <a:t>Does the application work as a whole?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7492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Different tests answer different questions — CI helps run them consistently.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Three environments you will often hear about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Three environments you will often hear about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1089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3108960" cy="548640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992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Developer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6978"/>
                </a:solidFill>
                <a:latin typeface="Aptos"/>
              </a:rPr>
              <a:t>Build and validate changes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0" y="3200400"/>
            <a:ext cx="521208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0" y="1600200"/>
            <a:ext cx="31089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3108960" cy="548640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0992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231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Pre-production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24612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6978"/>
                </a:solidFill>
                <a:latin typeface="Aptos"/>
              </a:rPr>
              <a:t>Demo + final validation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35240" y="3200400"/>
            <a:ext cx="521208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75320" y="1600200"/>
            <a:ext cx="31089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0" y="1600200"/>
            <a:ext cx="3108960" cy="548640"/>
          </a:xfrm>
          <a:prstGeom prst="roundRect">
            <a:avLst/>
          </a:prstGeom>
          <a:solidFill>
            <a:srgbClr val="D24646"/>
          </a:solidFill>
          <a:ln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70992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231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User-facing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4612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6978"/>
                </a:solidFill>
                <a:latin typeface="Aptos"/>
              </a:rPr>
              <a:t>Real users consume the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25780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F6978"/>
                </a:solidFill>
                <a:latin typeface="Aptos"/>
              </a:rPr>
              <a:t>Typical promotion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623560"/>
            <a:ext cx="6217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41F38"/>
                </a:solidFill>
                <a:latin typeface="Aptos"/>
              </a:rPr>
              <a:t>DEV  →  STAGING  → 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Before CI/CD: the manual maze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20240"/>
            <a:ext cx="1508760" cy="1143000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67712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12848" y="2487168"/>
            <a:ext cx="603504" cy="0"/>
          </a:xfrm>
          <a:prstGeom prst="line">
            <a:avLst/>
          </a:prstGeom>
          <a:ln w="25400">
            <a:solidFill>
              <a:srgbClr val="AAB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80360" y="1920240"/>
            <a:ext cx="1508760" cy="1143000"/>
          </a:xfrm>
          <a:prstGeom prst="roundRect">
            <a:avLst/>
          </a:prstGeom>
          <a:solidFill>
            <a:srgbClr val="28B4BE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2267712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Merge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07408" y="2487168"/>
            <a:ext cx="603504" cy="0"/>
          </a:xfrm>
          <a:prstGeom prst="line">
            <a:avLst/>
          </a:prstGeom>
          <a:ln w="25400">
            <a:solidFill>
              <a:srgbClr val="AAB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74920" y="1920240"/>
            <a:ext cx="1508760" cy="1143000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267712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01968" y="2487168"/>
            <a:ext cx="603504" cy="0"/>
          </a:xfrm>
          <a:prstGeom prst="line">
            <a:avLst/>
          </a:prstGeom>
          <a:ln w="25400">
            <a:solidFill>
              <a:srgbClr val="AAB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69479" y="1920240"/>
            <a:ext cx="1508760" cy="1143000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79" y="2267712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96528" y="2487168"/>
            <a:ext cx="603504" cy="0"/>
          </a:xfrm>
          <a:prstGeom prst="line">
            <a:avLst/>
          </a:prstGeom>
          <a:ln w="25400">
            <a:solidFill>
              <a:srgbClr val="AAB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920240"/>
            <a:ext cx="1508760" cy="1143000"/>
          </a:xfrm>
          <a:prstGeom prst="roundRect">
            <a:avLst/>
          </a:prstGeom>
          <a:solidFill>
            <a:srgbClr val="7855BE"/>
          </a:solidFill>
          <a:ln>
            <a:solidFill>
              <a:srgbClr val="78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2267712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Deploy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794760"/>
            <a:ext cx="1325880" cy="310896"/>
          </a:xfrm>
          <a:prstGeom prst="roundRect">
            <a:avLst/>
          </a:prstGeom>
          <a:solidFill>
            <a:srgbClr val="D24646"/>
          </a:solidFill>
          <a:ln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0390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Manual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3794760"/>
            <a:ext cx="1325880" cy="310896"/>
          </a:xfrm>
          <a:prstGeom prst="roundRect">
            <a:avLst/>
          </a:prstGeom>
          <a:solidFill>
            <a:srgbClr val="D24646"/>
          </a:solidFill>
          <a:ln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380390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Conflicts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3794760"/>
            <a:ext cx="1325880" cy="310896"/>
          </a:xfrm>
          <a:prstGeom prst="roundRect">
            <a:avLst/>
          </a:prstGeom>
          <a:solidFill>
            <a:srgbClr val="D24646"/>
          </a:solidFill>
          <a:ln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380390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3794760"/>
            <a:ext cx="1325880" cy="310896"/>
          </a:xfrm>
          <a:prstGeom prst="roundRect">
            <a:avLst/>
          </a:prstGeom>
          <a:solidFill>
            <a:srgbClr val="D24646"/>
          </a:solidFill>
          <a:ln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380390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Slow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3794760"/>
            <a:ext cx="1325880" cy="310896"/>
          </a:xfrm>
          <a:prstGeom prst="roundRect">
            <a:avLst/>
          </a:prstGeom>
          <a:solidFill>
            <a:srgbClr val="D24646"/>
          </a:solidFill>
          <a:ln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380390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Risky 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74920"/>
            <a:ext cx="9966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Humans repeatedly execute the same steps → slower delivery + more opportunities for error.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The problems CI/CD is designed to reduce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73152" cy="1828800"/>
          </a:xfrm>
          <a:prstGeom prst="roundRect">
            <a:avLst/>
          </a:prstGeom>
          <a:solidFill>
            <a:srgbClr val="D24646"/>
          </a:solidFill>
          <a:ln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58191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Integration 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480060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Many developers merge changes late → conflicts and rework.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73152" cy="1828800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58191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Manual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984248"/>
            <a:ext cx="480060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Repeated checks take time and can miss defects.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73152" cy="1828800"/>
          </a:xfrm>
          <a:prstGeom prst="roundRect">
            <a:avLst/>
          </a:prstGeom>
          <a:solidFill>
            <a:srgbClr val="7855BE"/>
          </a:solidFill>
          <a:ln>
            <a:solidFill>
              <a:srgbClr val="78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822191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Infrequent releases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224528"/>
            <a:ext cx="480060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Code freezes and long validation cycles slow delivery.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3657600"/>
            <a:ext cx="73152" cy="1828800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3822191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Risky deployments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4224528"/>
            <a:ext cx="480060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8"/>
                </a:solidFill>
                <a:latin typeface="Aptos"/>
              </a:rPr>
              <a:t>A manual production step can fail and be hard to recover.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CI/CD: 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F6978"/>
                </a:solidFill>
                <a:latin typeface="Aptos"/>
              </a:rPr>
              <a:t>Automate the repeatable path from code change to delivery.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2148840"/>
            <a:ext cx="3657600" cy="1417320"/>
          </a:xfrm>
          <a:prstGeom prst="roundRect">
            <a:avLst/>
          </a:prstGeom>
          <a:solidFill>
            <a:srgbClr val="141F38"/>
          </a:solidFill>
          <a:ln>
            <a:solidFill>
              <a:srgbClr val="14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51960" y="2359152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ptos"/>
              </a:rPr>
              <a:t>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2907792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DD7E6"/>
                </a:solidFill>
                <a:latin typeface="Aptos"/>
              </a:rPr>
              <a:t>automation around software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971800" cy="28803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920240"/>
            <a:ext cx="2331720" cy="310896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9384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CONTINUOUS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41F38"/>
                </a:solidFill>
                <a:latin typeface="Aptos"/>
              </a:rPr>
              <a:t>Build +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6978"/>
                </a:solidFill>
                <a:latin typeface="Aptos"/>
              </a:rPr>
              <a:t>Triggered by code changes so problems are found early.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645920"/>
            <a:ext cx="2971800" cy="288036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15400" y="1920240"/>
            <a:ext cx="2240280" cy="310896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1929384"/>
            <a:ext cx="2240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CONTINUOUS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514600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41F38"/>
                </a:solidFill>
                <a:latin typeface="Aptos"/>
              </a:rPr>
              <a:t>Release + 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246120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6978"/>
                </a:solidFill>
                <a:latin typeface="Aptos"/>
              </a:rPr>
              <a:t>Automate promotion toward users, often with an approval gate.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39312" y="2852928"/>
            <a:ext cx="566928" cy="0"/>
          </a:xfrm>
          <a:prstGeom prst="line">
            <a:avLst/>
          </a:prstGeom>
          <a:ln w="31750">
            <a:solidFill>
              <a:srgbClr val="2D69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55279" y="2852928"/>
            <a:ext cx="548641" cy="0"/>
          </a:xfrm>
          <a:prstGeom prst="line">
            <a:avLst/>
          </a:prstGeom>
          <a:ln w="31750">
            <a:solidFill>
              <a:srgbClr val="EE91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14800" y="507492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1F38"/>
                </a:solidFill>
                <a:latin typeface="Aptos"/>
              </a:rPr>
              <a:t>CI ends → CD begins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CI vs CD vs Continuous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34747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474720" cy="594360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536192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1F38"/>
                </a:solidFill>
                <a:latin typeface="Aptos"/>
              </a:rPr>
              <a:t>Build +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2834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6978"/>
                </a:solidFill>
                <a:latin typeface="Aptos"/>
              </a:rPr>
              <a:t>Every change should be validated.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4709160"/>
            <a:ext cx="1554480" cy="310896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718304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BUILD/TEST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747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74720" cy="594360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536192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Continuous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317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1F38"/>
                </a:solidFill>
                <a:latin typeface="Aptos"/>
              </a:rPr>
              <a:t>Release-ready +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246120"/>
            <a:ext cx="2834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6978"/>
                </a:solidFill>
                <a:latin typeface="Aptos"/>
              </a:rPr>
              <a:t>Production may require approval.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4709160"/>
            <a:ext cx="1554480" cy="310896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4718304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APPROVAL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417320"/>
            <a:ext cx="34747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1417320"/>
            <a:ext cx="3474720" cy="594360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536192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Continuous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3317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1F38"/>
                </a:solidFill>
                <a:latin typeface="Aptos"/>
              </a:rPr>
              <a:t>Release + deploy automatically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246120"/>
            <a:ext cx="2834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6978"/>
                </a:solidFill>
                <a:latin typeface="Aptos"/>
              </a:rPr>
              <a:t>No manual production approval.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709160"/>
            <a:ext cx="1554480" cy="310896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4718304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FULL AUTO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806440"/>
            <a:ext cx="8321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F6978"/>
                </a:solidFill>
                <a:latin typeface="Aptos"/>
              </a:rPr>
              <a:t>“CD” can mean Delivery or Deployment depending on the organization’s implementation.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A CI/CD pipeline in 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057400"/>
            <a:ext cx="1508760" cy="1920240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" y="2359152"/>
            <a:ext cx="13624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1325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Developer pushes code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56816" y="3017520"/>
            <a:ext cx="219456" cy="0"/>
          </a:xfrm>
          <a:prstGeom prst="line">
            <a:avLst/>
          </a:prstGeom>
          <a:ln w="2159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31136" y="2057400"/>
            <a:ext cx="1508760" cy="1920240"/>
          </a:xfrm>
          <a:prstGeom prst="roundRect">
            <a:avLst/>
          </a:prstGeom>
          <a:solidFill>
            <a:srgbClr val="28B4BE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04288" y="2359152"/>
            <a:ext cx="13624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2576" y="3063240"/>
            <a:ext cx="1325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Create artifact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76472" y="3017520"/>
            <a:ext cx="219456" cy="0"/>
          </a:xfrm>
          <a:prstGeom prst="line">
            <a:avLst/>
          </a:prstGeom>
          <a:ln w="2159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50791" y="2057400"/>
            <a:ext cx="1874519" cy="1920240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23944" y="2359152"/>
            <a:ext cx="17282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Unit + Integration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1" y="3063240"/>
            <a:ext cx="169163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Automated validation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1888" y="3017520"/>
            <a:ext cx="219456" cy="0"/>
          </a:xfrm>
          <a:prstGeom prst="line">
            <a:avLst/>
          </a:prstGeom>
          <a:ln w="2159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36207" y="2057400"/>
            <a:ext cx="1508760" cy="1920240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2359152"/>
            <a:ext cx="13624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7" y="3063240"/>
            <a:ext cx="1325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Ready for release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81543" y="3017520"/>
            <a:ext cx="219456" cy="0"/>
          </a:xfrm>
          <a:prstGeom prst="line">
            <a:avLst/>
          </a:prstGeom>
          <a:ln w="2159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55863" y="2057400"/>
            <a:ext cx="1508760" cy="1920240"/>
          </a:xfrm>
          <a:prstGeom prst="roundRect">
            <a:avLst/>
          </a:prstGeom>
          <a:solidFill>
            <a:srgbClr val="7855BE"/>
          </a:solidFill>
          <a:ln>
            <a:solidFill>
              <a:srgbClr val="78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5" y="2359152"/>
            <a:ext cx="13624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3" y="3063240"/>
            <a:ext cx="1325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Pre-production checks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01199" y="3017520"/>
            <a:ext cx="219456" cy="0"/>
          </a:xfrm>
          <a:prstGeom prst="line">
            <a:avLst/>
          </a:prstGeom>
          <a:ln w="2159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75519" y="2057400"/>
            <a:ext cx="1874519" cy="1920240"/>
          </a:xfrm>
          <a:prstGeom prst="roundRect">
            <a:avLst/>
          </a:prstGeom>
          <a:solidFill>
            <a:srgbClr val="D24646"/>
          </a:solidFill>
          <a:ln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48672" y="2359152"/>
            <a:ext cx="17282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Approval / Auto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59" y="3063240"/>
            <a:ext cx="169163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Gate depends on strategy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786615" y="3017520"/>
            <a:ext cx="219456" cy="0"/>
          </a:xfrm>
          <a:prstGeom prst="line">
            <a:avLst/>
          </a:prstGeom>
          <a:ln w="2159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2060935" y="2057400"/>
            <a:ext cx="1508760" cy="1920240"/>
          </a:xfrm>
          <a:prstGeom prst="roundRect">
            <a:avLst/>
          </a:prstGeom>
          <a:solidFill>
            <a:srgbClr val="141F38"/>
          </a:solidFill>
          <a:ln>
            <a:solidFill>
              <a:srgbClr val="14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34087" y="2359152"/>
            <a:ext cx="13624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52375" y="3063240"/>
            <a:ext cx="1325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Users get the release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937760"/>
            <a:ext cx="8503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If a test fails → stop, inspect the failing step, fix code, and push again.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What does a CI/CD workflow file do?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4572000" cy="4251960"/>
          </a:xfrm>
          <a:prstGeom prst="roundRect">
            <a:avLst/>
          </a:prstGeom>
          <a:solidFill>
            <a:srgbClr val="141F38"/>
          </a:solidFill>
          <a:ln>
            <a:solidFill>
              <a:srgbClr val="14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on: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1343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jobs: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43784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  build: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374135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    install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904487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    build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43484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    run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417320"/>
            <a:ext cx="58064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7373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Workflow execution</a:t>
            </a:r>
          </a:p>
        </p:txBody>
      </p:sp>
      <p:sp>
        <p:nvSpPr>
          <p:cNvPr id="12" name="Oval 11"/>
          <p:cNvSpPr/>
          <p:nvPr/>
        </p:nvSpPr>
        <p:spPr>
          <a:xfrm>
            <a:off x="6080760" y="2743200"/>
            <a:ext cx="566928" cy="566928"/>
          </a:xfrm>
          <a:prstGeom prst="ellipse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816352"/>
            <a:ext cx="566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520440"/>
            <a:ext cx="841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1F38"/>
                </a:solidFill>
                <a:latin typeface="Aptos"/>
              </a:rPr>
              <a:t>Trigger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75120" y="3026664"/>
            <a:ext cx="347472" cy="0"/>
          </a:xfrm>
          <a:prstGeom prst="line">
            <a:avLst/>
          </a:prstGeom>
          <a:ln w="1905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086600" y="2743200"/>
            <a:ext cx="566928" cy="566928"/>
          </a:xfrm>
          <a:prstGeom prst="ellipse">
            <a:avLst/>
          </a:prstGeom>
          <a:solidFill>
            <a:srgbClr val="28B4BE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2816352"/>
            <a:ext cx="566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520440"/>
            <a:ext cx="841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1F38"/>
                </a:solidFill>
                <a:latin typeface="Aptos"/>
              </a:rPr>
              <a:t>Runner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80960" y="3026664"/>
            <a:ext cx="347471" cy="0"/>
          </a:xfrm>
          <a:prstGeom prst="line">
            <a:avLst/>
          </a:prstGeom>
          <a:ln w="1905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92440" y="2743200"/>
            <a:ext cx="566928" cy="566928"/>
          </a:xfrm>
          <a:prstGeom prst="ellipse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816352"/>
            <a:ext cx="566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3520440"/>
            <a:ext cx="841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1F38"/>
                </a:solidFill>
                <a:latin typeface="Aptos"/>
              </a:rPr>
              <a:t>Build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0" y="3026664"/>
            <a:ext cx="347472" cy="0"/>
          </a:xfrm>
          <a:prstGeom prst="line">
            <a:avLst/>
          </a:prstGeom>
          <a:ln w="1905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098280" y="2743200"/>
            <a:ext cx="566928" cy="566928"/>
          </a:xfrm>
          <a:prstGeom prst="ellipse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816352"/>
            <a:ext cx="566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520440"/>
            <a:ext cx="841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1F38"/>
                </a:solidFill>
                <a:latin typeface="Aptos"/>
              </a:rPr>
              <a:t>Test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92640" y="3026664"/>
            <a:ext cx="347472" cy="0"/>
          </a:xfrm>
          <a:prstGeom prst="line">
            <a:avLst/>
          </a:prstGeom>
          <a:ln w="1905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104120" y="2743200"/>
            <a:ext cx="566928" cy="566928"/>
          </a:xfrm>
          <a:prstGeom prst="ellipse">
            <a:avLst/>
          </a:prstGeom>
          <a:solidFill>
            <a:srgbClr val="7855BE"/>
          </a:solidFill>
          <a:ln>
            <a:solidFill>
              <a:srgbClr val="78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2816352"/>
            <a:ext cx="5669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520440"/>
            <a:ext cx="8412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1F38"/>
                </a:solidFill>
                <a:latin typeface="Aptos"/>
              </a:rP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343400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F6978"/>
                </a:solidFill>
                <a:latin typeface="Aptos"/>
              </a:rPr>
              <a:t>A YAML workflow describes what should happen automatically.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Success and failure become visible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521208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000" y="2011680"/>
            <a:ext cx="731520" cy="731520"/>
          </a:xfrm>
          <a:prstGeom prst="ellipse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48256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99339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41F38"/>
                </a:solidFill>
                <a:latin typeface="Aptos"/>
              </a:rPr>
              <a:t>Green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69748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978"/>
                </a:solidFill>
                <a:latin typeface="Aptos"/>
              </a:rPr>
              <a:t>Build passed
Tests passed
Ready for the next stage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1208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29400" y="2011680"/>
            <a:ext cx="731520" cy="731520"/>
          </a:xfrm>
          <a:prstGeom prst="ellipse">
            <a:avLst/>
          </a:prstGeom>
          <a:solidFill>
            <a:srgbClr val="D24646"/>
          </a:solidFill>
          <a:ln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84831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99339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41F38"/>
                </a:solidFill>
                <a:latin typeface="Aptos"/>
              </a:rPr>
              <a:t>Failed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69748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F6978"/>
                </a:solidFill>
                <a:latin typeface="Aptos"/>
              </a:rPr>
              <a:t>Find the exact failing step
Inspect logs
Fix → commit → run again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669280"/>
            <a:ext cx="8321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1F38"/>
                </a:solidFill>
                <a:latin typeface="Aptos"/>
              </a:rPr>
              <a:t>The key benefit: fast feedback close to the code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CI/CD tools you may encounter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73152" cy="1737360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84248"/>
            <a:ext cx="3063240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978"/>
                </a:solidFill>
                <a:latin typeface="Aptos"/>
              </a:rPr>
              <a:t>Native to GitHub repositories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73152" cy="1737360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Jenkins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1984248"/>
            <a:ext cx="3063240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978"/>
                </a:solidFill>
                <a:latin typeface="Aptos"/>
              </a:rPr>
              <a:t>Flexible automation / job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41732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73152" cy="1737360"/>
          </a:xfrm>
          <a:prstGeom prst="roundRect">
            <a:avLst/>
          </a:prstGeom>
          <a:solidFill>
            <a:srgbClr val="7855BE"/>
          </a:solidFill>
          <a:ln>
            <a:solidFill>
              <a:srgbClr val="78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GitLab CI/CD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1984248"/>
            <a:ext cx="3063240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978"/>
                </a:solidFill>
                <a:latin typeface="Aptos"/>
              </a:rPr>
              <a:t>CI/CD integrated with GitLab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566160"/>
            <a:ext cx="73152" cy="1737360"/>
          </a:xfrm>
          <a:prstGeom prst="roundRect">
            <a:avLst/>
          </a:prstGeom>
          <a:solidFill>
            <a:srgbClr val="28B4BE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CircleCI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33088"/>
            <a:ext cx="3063240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978"/>
                </a:solidFill>
                <a:latin typeface="Aptos"/>
              </a:rPr>
              <a:t>Hosted CI/CD platform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5661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34840" y="3566160"/>
            <a:ext cx="73152" cy="1737360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7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Travis 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7" y="4133088"/>
            <a:ext cx="3063240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978"/>
                </a:solidFill>
                <a:latin typeface="Aptos"/>
              </a:rPr>
              <a:t>CI 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566160"/>
            <a:ext cx="34290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1040" y="3566160"/>
            <a:ext cx="73152" cy="1737360"/>
          </a:xfrm>
          <a:prstGeom prst="roundRect">
            <a:avLst/>
          </a:prstGeom>
          <a:solidFill>
            <a:srgbClr val="D24646"/>
          </a:solidFill>
          <a:ln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22208" y="373075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Bamboo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8" y="4133088"/>
            <a:ext cx="3063240" cy="10241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978"/>
                </a:solidFill>
                <a:latin typeface="Aptos"/>
              </a:rPr>
              <a:t>CI/CD automation 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806440"/>
            <a:ext cx="9601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F6978"/>
                </a:solidFill>
                <a:latin typeface="Aptos"/>
              </a:rPr>
              <a:t>Tool choice is strongly influenced by the organization’s existing platform and practices.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GitHub Actions vs Jenkins — beginner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212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73152" cy="4023360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84248"/>
            <a:ext cx="4846320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• Native to GitHub
• Workflows are commonly defined in YAML
• Convenient when code already lives on GitHub
• Good fit for getting started with Git-based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73152" cy="4023360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5819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8"/>
                </a:solidFill>
                <a:latin typeface="Aptos"/>
              </a:rPr>
              <a:t>Jenkins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84248"/>
            <a:ext cx="4846320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F6978"/>
                </a:solidFill>
                <a:latin typeface="Aptos"/>
              </a:rPr>
              <a:t>• Long-established CI/CD platform
• Highly customizable job orchestration
• Common in organizations with mature Jenkins estates
• Can require more operational maintenance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806440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1F38"/>
                </a:solidFill>
                <a:latin typeface="Aptos"/>
              </a:rPr>
              <a:t>There is no universal “best” tool — organizational context matters.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Continuous Delivery: keep a human gate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1600200" cy="1143000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59152" y="2487168"/>
            <a:ext cx="45720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80360" y="1920240"/>
            <a:ext cx="1600200" cy="1143000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228600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07992" y="2487168"/>
            <a:ext cx="45720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0" y="1920240"/>
            <a:ext cx="1600200" cy="1143000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28600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Staging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600200"/>
            <a:ext cx="1508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901952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1F38"/>
                </a:solidFill>
                <a:latin typeface="Aptos"/>
              </a:rPr>
              <a:t>MANUAL
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743200"/>
            <a:ext cx="1234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F6978"/>
                </a:solidFill>
                <a:latin typeface="Aptos"/>
              </a:rPr>
              <a:t>Lead / team approval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29400" y="2487168"/>
            <a:ext cx="54864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78240" y="2487168"/>
            <a:ext cx="59436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418320" y="1920240"/>
            <a:ext cx="1600200" cy="1143000"/>
          </a:xfrm>
          <a:prstGeom prst="roundRect">
            <a:avLst/>
          </a:prstGeom>
          <a:solidFill>
            <a:srgbClr val="D24646"/>
          </a:solidFill>
          <a:ln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28600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9204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The pipeline is automated, but production promotion has an approval checkpoint.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Continuous Deployment: remove the approval gate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011680"/>
            <a:ext cx="1965960" cy="1234440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04872"/>
            <a:ext cx="1965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70632" y="2633472"/>
            <a:ext cx="68580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566160" y="2011680"/>
            <a:ext cx="1965960" cy="1234440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404872"/>
            <a:ext cx="1965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59552" y="2633472"/>
            <a:ext cx="68580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55079" y="2011680"/>
            <a:ext cx="1965960" cy="1234440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79" y="2404872"/>
            <a:ext cx="1965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Staging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48471" y="2633472"/>
            <a:ext cx="685801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3999" y="2011680"/>
            <a:ext cx="1965960" cy="1234440"/>
          </a:xfrm>
          <a:prstGeom prst="roundRect">
            <a:avLst/>
          </a:prstGeom>
          <a:solidFill>
            <a:srgbClr val="D24646"/>
          </a:solidFill>
          <a:ln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3999" y="2404872"/>
            <a:ext cx="1965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Production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3977639"/>
            <a:ext cx="2011680" cy="310896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3986783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AUTOMATIC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00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No manual production approval is required after the automated checks.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532120"/>
            <a:ext cx="9235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F6978"/>
                </a:solidFill>
                <a:latin typeface="Aptos"/>
              </a:rPr>
              <a:t>Whether this is appropriate depends on the organization’s risk, controls and operating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Deployment strategies: how do we reduce release risk?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29000" cy="566928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3429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Blue-Green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3172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1F38"/>
                </a:solidFill>
                <a:latin typeface="Aptos"/>
              </a:rPr>
              <a:t>Two environments
Fast switch / rollback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337560"/>
            <a:ext cx="914400" cy="685800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52958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3337560"/>
            <a:ext cx="914400" cy="685800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352958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29968" y="3675887"/>
            <a:ext cx="393192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34840" y="146304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463040"/>
            <a:ext cx="3429000" cy="566928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00200"/>
            <a:ext cx="3429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Canary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33172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1F38"/>
                </a:solidFill>
                <a:latin typeface="Aptos"/>
              </a:rPr>
              <a:t>Small percentage first
Gradually increase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3429000"/>
            <a:ext cx="685800" cy="310896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343814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3429000"/>
            <a:ext cx="685800" cy="310896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343814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3429000"/>
            <a:ext cx="685800" cy="310896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43814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46304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21040" y="1463040"/>
            <a:ext cx="3429000" cy="566928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600200"/>
            <a:ext cx="3429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Rolling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33172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1F38"/>
                </a:solidFill>
                <a:latin typeface="Aptos"/>
              </a:rPr>
              <a:t>Update instances in batches
Old + new coexist temporarily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19" y="3337560"/>
            <a:ext cx="658368" cy="640080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46919" y="3337560"/>
            <a:ext cx="658368" cy="640080"/>
          </a:xfrm>
          <a:prstGeom prst="roundRect">
            <a:avLst/>
          </a:prstGeom>
          <a:solidFill>
            <a:srgbClr val="DCE2E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561319" y="3337560"/>
            <a:ext cx="658368" cy="640080"/>
          </a:xfrm>
          <a:prstGeom prst="roundRect">
            <a:avLst/>
          </a:prstGeom>
          <a:solidFill>
            <a:srgbClr val="DCE2E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349300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F6978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Blue-Green deployment — instant traffic switch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886200" cy="3474720"/>
          </a:xfrm>
          <a:prstGeom prst="roundRect">
            <a:avLst/>
          </a:prstGeom>
          <a:solidFill>
            <a:srgbClr val="EEF4FF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057400" y="1874519"/>
            <a:ext cx="1143000" cy="310896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1883663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1460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1F38"/>
                </a:solidFill>
                <a:latin typeface="Aptos"/>
              </a:rPr>
              <a:t>Current 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324612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2D69D2"/>
                </a:solidFill>
                <a:latin typeface="Aptos"/>
              </a:rPr>
              <a:t>v3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600200"/>
            <a:ext cx="3886200" cy="3474720"/>
          </a:xfrm>
          <a:prstGeom prst="roundRect">
            <a:avLst/>
          </a:prstGeom>
          <a:solidFill>
            <a:srgbClr val="EEFCF5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0" y="1874519"/>
            <a:ext cx="1143000" cy="310896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883663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514600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1F38"/>
                </a:solidFill>
                <a:latin typeface="Aptos"/>
              </a:rPr>
              <a:t>New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3246120"/>
            <a:ext cx="1143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2DA564"/>
                </a:solidFill>
                <a:latin typeface="Aptos"/>
              </a:rPr>
              <a:t>v4</a:t>
            </a:r>
          </a:p>
        </p:txBody>
      </p:sp>
      <p:sp>
        <p:nvSpPr>
          <p:cNvPr id="13" name="Oval 12"/>
          <p:cNvSpPr/>
          <p:nvPr/>
        </p:nvSpPr>
        <p:spPr>
          <a:xfrm>
            <a:off x="5166360" y="2331720"/>
            <a:ext cx="1051560" cy="1051560"/>
          </a:xfrm>
          <a:prstGeom prst="ellipse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496312"/>
            <a:ext cx="1051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USER
TRAFFIC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36208" y="2834640"/>
            <a:ext cx="1261871" cy="0"/>
          </a:xfrm>
          <a:prstGeom prst="line">
            <a:avLst/>
          </a:prstGeom>
          <a:ln w="38100">
            <a:solidFill>
              <a:srgbClr val="2DA5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26280" y="4069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DA564"/>
                </a:solidFill>
                <a:latin typeface="Aptos"/>
              </a:rPr>
              <a:t>Switch traffic → v4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562356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If v4 fails, traffic can be switched back to v3.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Canary deployment — start small, then expand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34440" y="2148840"/>
            <a:ext cx="1051560" cy="310896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157984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5–10%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1F38"/>
                </a:solidFill>
                <a:latin typeface="Aptos"/>
              </a:rP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Monitor before increasing traffic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16352" y="2743200"/>
            <a:ext cx="612648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20439" y="182880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23359" y="2148840"/>
            <a:ext cx="1051560" cy="310896"/>
          </a:xfrm>
          <a:prstGeom prst="roundRect">
            <a:avLst/>
          </a:prstGeom>
          <a:solidFill>
            <a:srgbClr val="28B4BE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2157984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7889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1F38"/>
                </a:solidFill>
                <a:latin typeface="Aptos"/>
              </a:rPr>
              <a:t>Observe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24612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Monitor before increasing traffic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05271" y="2743200"/>
            <a:ext cx="612649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59" y="182880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12279" y="2148840"/>
            <a:ext cx="1051560" cy="310896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79" y="2157984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1F38"/>
                </a:solidFill>
                <a:latin typeface="Aptos"/>
              </a:rPr>
              <a:t>Observe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4612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Monitor before increasing traffic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94192" y="2743200"/>
            <a:ext cx="612648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98280" y="182880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0" y="2148840"/>
            <a:ext cx="1051560" cy="310896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157984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27889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41F38"/>
                </a:solidFill>
                <a:latin typeface="Aptos"/>
              </a:rPr>
              <a:t>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24612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F6978"/>
                </a:solidFill>
                <a:latin typeface="Aptos"/>
              </a:rPr>
              <a:t>Monitor before increasing traffic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892040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Idea: expose the new version to a limited audience before expanding the blast radius.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Rolling deployment — update instances in batches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09160" y="1325880"/>
            <a:ext cx="2743200" cy="685800"/>
          </a:xfrm>
          <a:prstGeom prst="roundRect">
            <a:avLst/>
          </a:prstGeom>
          <a:solidFill>
            <a:srgbClr val="141F38"/>
          </a:solidFill>
          <a:ln>
            <a:solidFill>
              <a:srgbClr val="14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09160" y="15270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LOAD BALANCER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2743200"/>
            <a:ext cx="1645920" cy="713232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4436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NEW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874519" y="2011680"/>
            <a:ext cx="4206241" cy="731520"/>
          </a:xfrm>
          <a:prstGeom prst="line">
            <a:avLst/>
          </a:prstGeom>
          <a:ln w="1524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79" y="2743200"/>
            <a:ext cx="1645920" cy="713232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79" y="294436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NEW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4663440" y="2011680"/>
            <a:ext cx="1417320" cy="731520"/>
          </a:xfrm>
          <a:prstGeom prst="line">
            <a:avLst/>
          </a:prstGeom>
          <a:ln w="1524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29400" y="2743200"/>
            <a:ext cx="1645920" cy="713232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94436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OLD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2011680"/>
            <a:ext cx="1371600" cy="731520"/>
          </a:xfrm>
          <a:prstGeom prst="line">
            <a:avLst/>
          </a:prstGeom>
          <a:ln w="1524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18319" y="2743200"/>
            <a:ext cx="1645920" cy="713232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19" y="294436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OLD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011680"/>
            <a:ext cx="4160520" cy="731520"/>
          </a:xfrm>
          <a:prstGeom prst="line">
            <a:avLst/>
          </a:prstGeom>
          <a:ln w="1524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51560" y="3886200"/>
            <a:ext cx="1645920" cy="713232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8736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OLD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874519" y="2011680"/>
            <a:ext cx="4206241" cy="1874520"/>
          </a:xfrm>
          <a:prstGeom prst="line">
            <a:avLst/>
          </a:prstGeom>
          <a:ln w="1524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840479" y="3886200"/>
            <a:ext cx="1645920" cy="713232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79" y="408736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OLD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663440" y="2011680"/>
            <a:ext cx="1417320" cy="1874520"/>
          </a:xfrm>
          <a:prstGeom prst="line">
            <a:avLst/>
          </a:prstGeom>
          <a:ln w="1524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29400" y="3886200"/>
            <a:ext cx="1645920" cy="713232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08736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OLD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2011680"/>
            <a:ext cx="1371600" cy="1874520"/>
          </a:xfrm>
          <a:prstGeom prst="line">
            <a:avLst/>
          </a:prstGeom>
          <a:ln w="1524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18319" y="3886200"/>
            <a:ext cx="1645920" cy="713232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19" y="408736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OLD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0760" y="2011680"/>
            <a:ext cx="4160520" cy="1874520"/>
          </a:xfrm>
          <a:prstGeom prst="line">
            <a:avLst/>
          </a:prstGeom>
          <a:ln w="1524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011680" y="562356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1F38"/>
                </a:solidFill>
                <a:latin typeface="Aptos"/>
              </a:rPr>
              <a:t>Update some instances → validate → update more → finish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Where Docker and Kubernetes fit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1325880" cy="310896"/>
          </a:xfrm>
          <a:prstGeom prst="roundRect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9344"/>
            <a:ext cx="1325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CI/CD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417320"/>
            <a:ext cx="1508760" cy="960120"/>
          </a:xfrm>
          <a:prstGeom prst="roundRect">
            <a:avLst/>
          </a:prstGeom>
          <a:solidFill>
            <a:srgbClr val="28B4BE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31720" y="171907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Build image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67911" y="1901952"/>
            <a:ext cx="310897" cy="0"/>
          </a:xfrm>
          <a:prstGeom prst="line">
            <a:avLst/>
          </a:prstGeom>
          <a:ln w="2159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51960" y="1417320"/>
            <a:ext cx="1508760" cy="960120"/>
          </a:xfrm>
          <a:prstGeom prst="roundRect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71907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88152" y="1901952"/>
            <a:ext cx="310896" cy="0"/>
          </a:xfrm>
          <a:prstGeom prst="line">
            <a:avLst/>
          </a:prstGeom>
          <a:ln w="2159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72200" y="1417320"/>
            <a:ext cx="1508760" cy="960120"/>
          </a:xfrm>
          <a:prstGeom prst="roundRect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71907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063240"/>
            <a:ext cx="3931920" cy="1508760"/>
          </a:xfrm>
          <a:prstGeom prst="roundRect">
            <a:avLst/>
          </a:prstGeom>
          <a:solidFill>
            <a:srgbClr val="EEF8FF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3375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8B4BE"/>
                </a:solidFill>
                <a:latin typeface="Aptos"/>
              </a:rPr>
              <a:t>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273552"/>
            <a:ext cx="2423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978"/>
                </a:solidFill>
                <a:latin typeface="Aptos"/>
              </a:rPr>
              <a:t>Package the application and its runtime dependencies consistently.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063240"/>
            <a:ext cx="4480560" cy="1508760"/>
          </a:xfrm>
          <a:prstGeom prst="roundRect">
            <a:avLst/>
          </a:prstGeom>
          <a:solidFill>
            <a:srgbClr val="F5F2FF"/>
          </a:solidFill>
          <a:ln>
            <a:solidFill>
              <a:srgbClr val="78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33756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7855BE"/>
                </a:solidFill>
                <a:latin typeface="Aptos"/>
              </a:rPr>
              <a:t>Kubernetes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73552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978"/>
                </a:solidFill>
                <a:latin typeface="Aptos"/>
              </a:rPr>
              <a:t>Run and manage application workloads across scalable infrastructure.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66360" y="3794760"/>
            <a:ext cx="1143000" cy="0"/>
          </a:xfrm>
          <a:prstGeom prst="line">
            <a:avLst/>
          </a:prstGeom>
          <a:ln w="3175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63040" y="5257800"/>
            <a:ext cx="9326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1F38"/>
                </a:solidFill>
                <a:latin typeface="Aptos"/>
              </a:rPr>
              <a:t>Together with CI/CD, these tools can simplify delivery for larger applications and teams.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The mental model to remember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828800"/>
            <a:ext cx="731520" cy="731520"/>
          </a:xfrm>
          <a:prstGeom prst="ellipse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11095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834640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Change code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08760" y="2194560"/>
            <a:ext cx="1280160" cy="0"/>
          </a:xfrm>
          <a:prstGeom prst="line">
            <a:avLst/>
          </a:prstGeom>
          <a:ln w="25400">
            <a:solidFill>
              <a:srgbClr val="A0B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971800" y="1828800"/>
            <a:ext cx="731520" cy="731520"/>
          </a:xfrm>
          <a:prstGeom prst="ellipse">
            <a:avLst/>
          </a:prstGeom>
          <a:solidFill>
            <a:srgbClr val="28B4BE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911095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834640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49039" y="2194560"/>
            <a:ext cx="1280161" cy="0"/>
          </a:xfrm>
          <a:prstGeom prst="line">
            <a:avLst/>
          </a:prstGeom>
          <a:ln w="25400">
            <a:solidFill>
              <a:srgbClr val="A0B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212080" y="1828800"/>
            <a:ext cx="731520" cy="731520"/>
          </a:xfrm>
          <a:prstGeom prst="ellipse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911095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834640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9320" y="2194560"/>
            <a:ext cx="1280160" cy="0"/>
          </a:xfrm>
          <a:prstGeom prst="line">
            <a:avLst/>
          </a:prstGeom>
          <a:ln w="25400">
            <a:solidFill>
              <a:srgbClr val="A0B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452360" y="1828800"/>
            <a:ext cx="731520" cy="731520"/>
          </a:xfrm>
          <a:prstGeom prst="ellipse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911095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834640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Release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0" y="2194560"/>
            <a:ext cx="1280160" cy="0"/>
          </a:xfrm>
          <a:prstGeom prst="line">
            <a:avLst/>
          </a:prstGeom>
          <a:ln w="25400">
            <a:solidFill>
              <a:srgbClr val="A0B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692640" y="1828800"/>
            <a:ext cx="731520" cy="731520"/>
          </a:xfrm>
          <a:prstGeom prst="ellipse">
            <a:avLst/>
          </a:prstGeom>
          <a:solidFill>
            <a:srgbClr val="7855BE"/>
          </a:solidFill>
          <a:ln>
            <a:solidFill>
              <a:srgbClr val="78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911095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834640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Deploy safely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60520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CI/CD is not one tool.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800600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3D2E6"/>
                </a:solidFill>
                <a:latin typeface="Aptos"/>
              </a:rPr>
              <a:t>It is an automated way of moving software through a repeatable delivery process.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71500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The objective: faster feedback, repeatable releases, and safer deployments.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1F38"/>
                </a:solidFill>
                <a:latin typeface="Aptos"/>
              </a:rPr>
              <a:t>Quick knowledge check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rgbClr val="2D69D2"/>
          </a:solidFill>
          <a:ln>
            <a:solidFill>
              <a:srgbClr val="2D69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408176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8"/>
                </a:solidFill>
                <a:latin typeface="Aptos"/>
              </a:rPr>
              <a:t>1. What does CI automate?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240280"/>
            <a:ext cx="384048" cy="384048"/>
          </a:xfrm>
          <a:prstGeom prst="ellipse">
            <a:avLst/>
          </a:prstGeom>
          <a:solidFill>
            <a:srgbClr val="28B4BE"/>
          </a:solidFill>
          <a:ln>
            <a:solidFill>
              <a:srgbClr val="28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231136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8"/>
                </a:solidFill>
                <a:latin typeface="Aptos"/>
              </a:rPr>
              <a:t>2. What is the main purpose of a staging environment?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63240"/>
            <a:ext cx="384048" cy="384048"/>
          </a:xfrm>
          <a:prstGeom prst="ellipse">
            <a:avLst/>
          </a:prstGeom>
          <a:solidFill>
            <a:srgbClr val="2DA564"/>
          </a:solidFill>
          <a:ln>
            <a:solidFill>
              <a:srgbClr val="2DA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54096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8"/>
                </a:solidFill>
                <a:latin typeface="Aptos"/>
              </a:rPr>
              <a:t>3. What is the difference between Continuous Delivery and Continuous Deployment?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886200"/>
            <a:ext cx="384048" cy="384048"/>
          </a:xfrm>
          <a:prstGeom prst="ellipse">
            <a:avLst/>
          </a:prstGeom>
          <a:solidFill>
            <a:srgbClr val="EE912D"/>
          </a:solidFill>
          <a:ln>
            <a:solidFill>
              <a:srgbClr val="E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77056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8"/>
                </a:solidFill>
                <a:latin typeface="Aptos"/>
              </a:rPr>
              <a:t>4. When would a Blue-Green strategy help?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09160"/>
            <a:ext cx="384048" cy="384048"/>
          </a:xfrm>
          <a:prstGeom prst="ellipse">
            <a:avLst/>
          </a:prstGeom>
          <a:solidFill>
            <a:srgbClr val="7855BE"/>
          </a:solidFill>
          <a:ln>
            <a:solidFill>
              <a:srgbClr val="785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700016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8"/>
                </a:solidFill>
                <a:latin typeface="Aptos"/>
              </a:rPr>
              <a:t>5. What is the idea behind a Canary release?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66928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F6978"/>
                </a:solidFill>
                <a:latin typeface="Aptos"/>
              </a:rPr>
              <a:t>Pause here and let learners answer before revealing the concepts.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B9CDE6"/>
                </a:solidFill>
                <a:latin typeface="Aptos"/>
              </a:rPr>
              <a:t>Code → Build → Test → Release → 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886200"/>
            <a:ext cx="9235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Keep learning. Keep automating. Keep improving.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576072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0B4CD"/>
                </a:solidFill>
                <a:latin typeface="Aptos"/>
              </a:rPr>
              <a:t>CI/CD for Beginners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8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