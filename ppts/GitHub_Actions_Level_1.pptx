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515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"/>
              </a:rPr>
              <a:t>GitHub Actions — Level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7451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BED2EB"/>
                </a:solidFill>
                <a:latin typeface="Aptos"/>
              </a:rPr>
              <a:t>From Git push → workflow → runner → automated CI/CD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3749039"/>
            <a:ext cx="731520" cy="731520"/>
          </a:xfrm>
          <a:prstGeom prst="ellipse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617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PUSH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91640" y="4114800"/>
            <a:ext cx="1188720" cy="0"/>
          </a:xfrm>
          <a:prstGeom prst="line">
            <a:avLst/>
          </a:prstGeom>
          <a:ln w="25400">
            <a:solidFill>
              <a:srgbClr val="9BB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063240" y="3749039"/>
            <a:ext cx="731520" cy="731520"/>
          </a:xfrm>
          <a:prstGeom prst="ellipse">
            <a:avLst/>
          </a:prstGeom>
          <a:solidFill>
            <a:srgbClr val="23AABE"/>
          </a:solidFill>
          <a:ln>
            <a:solidFill>
              <a:srgbClr val="23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38404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617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WORKFLOW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0" y="4114800"/>
            <a:ext cx="1188720" cy="0"/>
          </a:xfrm>
          <a:prstGeom prst="line">
            <a:avLst/>
          </a:prstGeom>
          <a:ln w="25400">
            <a:solidFill>
              <a:srgbClr val="9BB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212080" y="3749039"/>
            <a:ext cx="731520" cy="731520"/>
          </a:xfrm>
          <a:prstGeom prst="ellipse">
            <a:avLst/>
          </a:prstGeom>
          <a:solidFill>
            <a:srgbClr val="7855B9"/>
          </a:solidFill>
          <a:ln>
            <a:solidFill>
              <a:srgbClr val="785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38404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4617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RUNNER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89320" y="4114800"/>
            <a:ext cx="1188720" cy="0"/>
          </a:xfrm>
          <a:prstGeom prst="line">
            <a:avLst/>
          </a:prstGeom>
          <a:ln w="25400">
            <a:solidFill>
              <a:srgbClr val="9BB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60920" y="3749039"/>
            <a:ext cx="731520" cy="731520"/>
          </a:xfrm>
          <a:prstGeom prst="ellipse">
            <a:avLst/>
          </a:prstGeom>
          <a:solidFill>
            <a:srgbClr val="32A564"/>
          </a:solidFill>
          <a:ln>
            <a:solidFill>
              <a:srgbClr val="32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38404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617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BUILD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38160" y="4114800"/>
            <a:ext cx="1188720" cy="0"/>
          </a:xfrm>
          <a:prstGeom prst="line">
            <a:avLst/>
          </a:prstGeom>
          <a:ln w="25400">
            <a:solidFill>
              <a:srgbClr val="9BB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509760" y="3749039"/>
            <a:ext cx="731520" cy="731520"/>
          </a:xfrm>
          <a:prstGeom prst="ellipse">
            <a:avLst/>
          </a:prstGeom>
          <a:solidFill>
            <a:srgbClr val="EB8C2D"/>
          </a:solidFill>
          <a:ln>
            <a:solidFill>
              <a:srgbClr val="EB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38404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4617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325880"/>
            <a:ext cx="475488" cy="475488"/>
          </a:xfrm>
          <a:prstGeom prst="ellipse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08176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307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F38"/>
                </a:solidFill>
                <a:latin typeface="Aptos"/>
              </a:rPr>
              <a:t>Understand 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30759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978"/>
                </a:solidFill>
                <a:latin typeface="Aptos"/>
              </a:rPr>
              <a:t>What it is and where it fits in CI/CD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86000"/>
            <a:ext cx="475488" cy="475488"/>
          </a:xfrm>
          <a:prstGeom prst="ellipse">
            <a:avLst/>
          </a:prstGeom>
          <a:solidFill>
            <a:srgbClr val="23AABE"/>
          </a:solidFill>
          <a:ln>
            <a:solidFill>
              <a:srgbClr val="23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68296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67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F38"/>
                </a:solidFill>
                <a:latin typeface="Aptos"/>
              </a:rPr>
              <a:t>Read a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677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978"/>
                </a:solidFill>
                <a:latin typeface="Aptos"/>
              </a:rPr>
              <a:t>Events, YAML, jobs and steps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246120"/>
            <a:ext cx="475488" cy="475488"/>
          </a:xfrm>
          <a:prstGeom prst="ellipse">
            <a:avLst/>
          </a:prstGeom>
          <a:solidFill>
            <a:srgbClr val="7855B9"/>
          </a:solidFill>
          <a:ln>
            <a:solidFill>
              <a:srgbClr val="785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28415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2278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F38"/>
                </a:solidFill>
                <a:latin typeface="Aptos"/>
              </a:rPr>
              <a:t>Understand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2783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978"/>
                </a:solidFill>
                <a:latin typeface="Aptos"/>
              </a:rPr>
              <a:t>Hosted and self-hosted runners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206240"/>
            <a:ext cx="475488" cy="475488"/>
          </a:xfrm>
          <a:prstGeom prst="ellipse">
            <a:avLst/>
          </a:prstGeom>
          <a:solidFill>
            <a:srgbClr val="32A564"/>
          </a:solidFill>
          <a:ln>
            <a:solidFill>
              <a:srgbClr val="32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88536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187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F38"/>
                </a:solidFill>
                <a:latin typeface="Aptos"/>
              </a:rPr>
              <a:t>Use reusable building blocks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1879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978"/>
                </a:solidFill>
                <a:latin typeface="Aptos"/>
              </a:rPr>
              <a:t>Actions, Marketplace and documentation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166360"/>
            <a:ext cx="475488" cy="475488"/>
          </a:xfrm>
          <a:prstGeom prst="ellipse">
            <a:avLst/>
          </a:prstGeom>
          <a:solidFill>
            <a:srgbClr val="EB8C2D"/>
          </a:solidFill>
          <a:ln>
            <a:solidFill>
              <a:srgbClr val="EB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48656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148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F38"/>
                </a:solidFill>
                <a:latin typeface="Aptos"/>
              </a:rPr>
              <a:t>Build real pipelines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1480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978"/>
                </a:solidFill>
                <a:latin typeface="Aptos"/>
              </a:rPr>
              <a:t>Tests, quality checks, Docker and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What is GitHub Actions?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A GitHub-native automation system used for CI/CD and other repository workflows.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108960" cy="3749039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41F38"/>
                </a:solidFill>
                <a:latin typeface="Aptos"/>
              </a:rPr>
              <a:t>GitHub repository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2514600"/>
            <a:ext cx="1920240" cy="310896"/>
          </a:xfrm>
          <a:prstGeom prst="roundRect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5237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3108960"/>
            <a:ext cx="1920240" cy="310896"/>
          </a:xfrm>
          <a:prstGeom prst="roundRect">
            <a:avLst/>
          </a:prstGeom>
          <a:solidFill>
            <a:srgbClr val="23AABE"/>
          </a:solidFill>
          <a:ln>
            <a:solidFill>
              <a:srgbClr val="23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118103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PULL REQUEST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703320"/>
            <a:ext cx="1920240" cy="310896"/>
          </a:xfrm>
          <a:prstGeom prst="roundRect">
            <a:avLst/>
          </a:prstGeom>
          <a:solidFill>
            <a:srgbClr val="7855B9"/>
          </a:solidFill>
          <a:ln>
            <a:solidFill>
              <a:srgbClr val="785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712463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ISSUE / EVENT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94760" y="3246120"/>
            <a:ext cx="82296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09160" y="1691640"/>
            <a:ext cx="2834640" cy="3291840"/>
          </a:xfrm>
          <a:prstGeom prst="roundRect">
            <a:avLst/>
          </a:prstGeom>
          <a:solidFill>
            <a:srgbClr val="141F38"/>
          </a:solidFill>
          <a:ln>
            <a:solidFill>
              <a:srgbClr val="14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194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GitHub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9718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8D7EB"/>
                </a:solidFill>
                <a:latin typeface="Aptos"/>
              </a:rPr>
              <a:t>Event → Workflow
→ Jobs → Steps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89520" y="3246120"/>
            <a:ext cx="77724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58200" y="1508760"/>
            <a:ext cx="3108960" cy="3749039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1828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41F38"/>
                </a:solidFill>
                <a:latin typeface="Aptos"/>
              </a:rPr>
              <a:t>Automation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2514600"/>
            <a:ext cx="1645920" cy="310896"/>
          </a:xfrm>
          <a:prstGeom prst="roundRect">
            <a:avLst/>
          </a:prstGeom>
          <a:solidFill>
            <a:srgbClr val="32A564"/>
          </a:solidFill>
          <a:ln>
            <a:solidFill>
              <a:srgbClr val="32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5237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BUILD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3108960"/>
            <a:ext cx="1645920" cy="310896"/>
          </a:xfrm>
          <a:prstGeom prst="roundRect">
            <a:avLst/>
          </a:prstGeom>
          <a:solidFill>
            <a:srgbClr val="EB8C2D"/>
          </a:solidFill>
          <a:ln>
            <a:solidFill>
              <a:srgbClr val="EB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3118103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3703320"/>
            <a:ext cx="1645920" cy="310896"/>
          </a:xfrm>
          <a:prstGeom prst="roundRect">
            <a:avLst/>
          </a:prstGeom>
          <a:solidFill>
            <a:srgbClr val="CD4646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3712463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Why GitHub Actions?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47472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73152" cy="4069080"/>
          </a:xfrm>
          <a:prstGeom prst="roundRect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58191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GitHub-native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039112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978"/>
                </a:solidFill>
                <a:latin typeface="Aptos"/>
              </a:rPr>
              <a:t>• Workflow files live with the code
• GitHub events can trigger automation
• Execution is visible in the repository
• Hosted runners reduce platform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47472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73152" cy="4069080"/>
          </a:xfrm>
          <a:prstGeom prst="roundRect">
            <a:avLst/>
          </a:prstGeom>
          <a:solidFill>
            <a:srgbClr val="23AABE"/>
          </a:solidFill>
          <a:ln>
            <a:solidFill>
              <a:srgbClr val="23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58191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Workflow as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39112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978"/>
                </a:solidFill>
                <a:latin typeface="Aptos"/>
              </a:rPr>
              <a:t>• YAML describes automation
• Changes are reviewed like code
• Multiple workflows can serve different needs
• Easy to reproduce and share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47472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73152" cy="4069080"/>
          </a:xfrm>
          <a:prstGeom prst="roundRect">
            <a:avLst/>
          </a:prstGeom>
          <a:solidFill>
            <a:srgbClr val="32A564"/>
          </a:solidFill>
          <a:ln>
            <a:solidFill>
              <a:srgbClr val="32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58191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Ecosystem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039112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978"/>
                </a:solidFill>
                <a:latin typeface="Aptos"/>
              </a:rPr>
              <a:t>• Reusable actions
• GitHub Marketplace
• Scripts and standard tools
• Supports CI, CD, quality and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Where does a workflow live?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4663440" cy="4480560"/>
          </a:xfrm>
          <a:prstGeom prst="roundRect">
            <a:avLst/>
          </a:prstGeom>
          <a:solidFill>
            <a:srgbClr val="141F38"/>
          </a:solidFill>
          <a:ln>
            <a:solidFill>
              <a:srgbClr val="14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69164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my-repository/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9456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├── src/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69748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├── tests/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0040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├── Dockerfile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0332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└── .github/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20624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    └── workflows/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0916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        └── ci.yml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325880"/>
            <a:ext cx="5669280" cy="448056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737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41F38"/>
                </a:solidFill>
                <a:latin typeface="Aptos"/>
              </a:rPr>
              <a:t>The key convention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2514600"/>
            <a:ext cx="2651760" cy="310896"/>
          </a:xfrm>
          <a:prstGeom prst="roundRect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252374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.github/workflows/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246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5F6978"/>
                </a:solidFill>
                <a:latin typeface="Aptos"/>
              </a:rPr>
              <a:t>Put YAML workflow files here.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02336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F38"/>
                </a:solidFill>
                <a:latin typeface="Aptos"/>
              </a:rPr>
              <a:t>You can have multiple workflow files for different responsibilities.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The GitHub Actions mental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28800"/>
            <a:ext cx="1874519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1288" y="2103120"/>
            <a:ext cx="566928" cy="566928"/>
          </a:xfrm>
          <a:prstGeom prst="ellipse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" y="2194560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346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F38"/>
                </a:solidFill>
                <a:latin typeface="Aptos"/>
              </a:rPr>
              <a:t>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918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978"/>
                </a:solidFill>
                <a:latin typeface="Aptos"/>
              </a:rPr>
              <a:t>What happened?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04872" y="2880360"/>
            <a:ext cx="338328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34639" y="1828800"/>
            <a:ext cx="1874519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93007" y="2103120"/>
            <a:ext cx="566928" cy="566928"/>
          </a:xfrm>
          <a:prstGeom prst="ellipse">
            <a:avLst/>
          </a:prstGeom>
          <a:solidFill>
            <a:srgbClr val="23AABE"/>
          </a:solidFill>
          <a:ln>
            <a:solidFill>
              <a:srgbClr val="23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7" y="2194560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28346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F38"/>
                </a:solidFill>
                <a:latin typeface="Aptos"/>
              </a:rPr>
              <a:t>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2918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978"/>
                </a:solidFill>
                <a:latin typeface="Aptos"/>
              </a:rPr>
              <a:t>What should run?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36592" y="2880360"/>
            <a:ext cx="338328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59" y="1828800"/>
            <a:ext cx="1874519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24727" y="2103120"/>
            <a:ext cx="566928" cy="566928"/>
          </a:xfrm>
          <a:prstGeom prst="ellipse">
            <a:avLst/>
          </a:prstGeom>
          <a:solidFill>
            <a:srgbClr val="7855B9"/>
          </a:solidFill>
          <a:ln>
            <a:solidFill>
              <a:srgbClr val="785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4727" y="2194560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799" y="28346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F38"/>
                </a:solidFill>
                <a:latin typeface="Aptos"/>
              </a:rPr>
              <a:t>JOB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2918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978"/>
                </a:solidFill>
                <a:latin typeface="Aptos"/>
              </a:rPr>
              <a:t>What unit runs?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68312" y="2880360"/>
            <a:ext cx="338328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98079" y="1828800"/>
            <a:ext cx="1874519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56448" y="2103120"/>
            <a:ext cx="566928" cy="566928"/>
          </a:xfrm>
          <a:prstGeom prst="ellipse">
            <a:avLst/>
          </a:prstGeom>
          <a:solidFill>
            <a:srgbClr val="32A564"/>
          </a:solidFill>
          <a:ln>
            <a:solidFill>
              <a:srgbClr val="32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6448" y="2194560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28346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F38"/>
                </a:solidFill>
                <a:latin typeface="Aptos"/>
              </a:rPr>
              <a:t>STEP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59" y="32918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978"/>
                </a:solidFill>
                <a:latin typeface="Aptos"/>
              </a:rPr>
              <a:t>What does it do?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00032" y="2880360"/>
            <a:ext cx="338327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829800" y="1828800"/>
            <a:ext cx="1874519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488168" y="2103120"/>
            <a:ext cx="566928" cy="566928"/>
          </a:xfrm>
          <a:prstGeom prst="ellipse">
            <a:avLst/>
          </a:prstGeom>
          <a:solidFill>
            <a:srgbClr val="EB8C2D"/>
          </a:solidFill>
          <a:ln>
            <a:solidFill>
              <a:srgbClr val="EB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88168" y="2194560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28346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41F38"/>
                </a:solidFill>
                <a:latin typeface="Aptos"/>
              </a:rPr>
              <a:t>RUNNER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32918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978"/>
                </a:solidFill>
                <a:latin typeface="Aptos"/>
              </a:rPr>
              <a:t>Where?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07492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F38"/>
                </a:solidFill>
                <a:latin typeface="Aptos"/>
              </a:rPr>
              <a:t>Once this model is clear, GitHub Actions YAML becomes much easier to read.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Events: what starts a workflow?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173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73152" cy="1691640"/>
          </a:xfrm>
          <a:prstGeom prst="roundRect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58191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push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039112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Aptos"/>
              </a:rPr>
              <a:t>Code is pushed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73152" cy="1691640"/>
          </a:xfrm>
          <a:prstGeom prst="roundRect">
            <a:avLst/>
          </a:prstGeom>
          <a:solidFill>
            <a:srgbClr val="23AABE"/>
          </a:solidFill>
          <a:ln>
            <a:solidFill>
              <a:srgbClr val="23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158191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pull_request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2039112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Aptos"/>
              </a:rPr>
              <a:t>PR 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73152" cy="1691640"/>
          </a:xfrm>
          <a:prstGeom prst="roundRect">
            <a:avLst/>
          </a:prstGeom>
          <a:solidFill>
            <a:srgbClr val="7855B9"/>
          </a:solidFill>
          <a:ln>
            <a:solidFill>
              <a:srgbClr val="785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58191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2039112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Aptos"/>
              </a:rPr>
              <a:t>Issue activity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747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3474720"/>
            <a:ext cx="73152" cy="1691640"/>
          </a:xfrm>
          <a:prstGeom prst="roundRect">
            <a:avLst/>
          </a:prstGeom>
          <a:solidFill>
            <a:srgbClr val="32A564"/>
          </a:solidFill>
          <a:ln>
            <a:solidFill>
              <a:srgbClr val="32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63931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workflow_dispatch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096511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Aptos"/>
              </a:rPr>
              <a:t>Manual run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4747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34840" y="3474720"/>
            <a:ext cx="73152" cy="1691640"/>
          </a:xfrm>
          <a:prstGeom prst="roundRect">
            <a:avLst/>
          </a:prstGeom>
          <a:solidFill>
            <a:srgbClr val="EB8C2D"/>
          </a:solidFill>
          <a:ln>
            <a:solidFill>
              <a:srgbClr val="EB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8" y="363931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4096511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Aptos"/>
              </a:rPr>
              <a:t>Scheduled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6692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F38"/>
                </a:solidFill>
                <a:latin typeface="Aptos"/>
              </a:rPr>
              <a:t>Example: on: push means the workflow reacts to a push event.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One workflow can contain multiple jobs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377440" cy="1325880"/>
          </a:xfrm>
          <a:prstGeom prst="roundRect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677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34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F6978"/>
                </a:solidFill>
                <a:latin typeface="Aptos"/>
              </a:rP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40690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F38"/>
                </a:solidFill>
                <a:latin typeface="Aptos"/>
              </a:rPr>
              <a:t>Jobs are logical units of work. They can be independent or connected with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4983480"/>
            <a:ext cx="2651760" cy="310896"/>
          </a:xfrm>
          <a:prstGeom prst="roundRect">
            <a:avLst/>
          </a:prstGeom>
          <a:solidFill>
            <a:srgbClr val="7855B9"/>
          </a:solidFill>
          <a:ln>
            <a:solidFill>
              <a:srgbClr val="785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499262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jobs.&lt;job_id&gt;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Steps: the building blocks inside a job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241280" cy="4389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0160" y="1691640"/>
            <a:ext cx="1417320" cy="310896"/>
          </a:xfrm>
          <a:prstGeom prst="roundRect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70078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JOB: build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240280"/>
            <a:ext cx="384048" cy="384048"/>
          </a:xfrm>
          <a:prstGeom prst="ellipse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13432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2311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F38"/>
                </a:solidFill>
                <a:latin typeface="Aptos"/>
              </a:rPr>
              <a:t>Checkout code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2834640"/>
            <a:ext cx="384048" cy="384048"/>
          </a:xfrm>
          <a:prstGeom prst="ellipse">
            <a:avLst/>
          </a:prstGeom>
          <a:solidFill>
            <a:srgbClr val="23AABE"/>
          </a:solidFill>
          <a:ln>
            <a:solidFill>
              <a:srgbClr val="23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907792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8254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F38"/>
                </a:solidFill>
                <a:latin typeface="Aptos"/>
              </a:rPr>
              <a:t>Set up runtime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429000"/>
            <a:ext cx="384048" cy="384048"/>
          </a:xfrm>
          <a:prstGeom prst="ellipse">
            <a:avLst/>
          </a:prstGeom>
          <a:solidFill>
            <a:srgbClr val="7855B9"/>
          </a:solidFill>
          <a:ln>
            <a:solidFill>
              <a:srgbClr val="785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502152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4198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F38"/>
                </a:solidFill>
                <a:latin typeface="Aptos"/>
              </a:rPr>
              <a:t>Install dependencies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4023360"/>
            <a:ext cx="384048" cy="384048"/>
          </a:xfrm>
          <a:prstGeom prst="ellipse">
            <a:avLst/>
          </a:prstGeom>
          <a:solidFill>
            <a:srgbClr val="32A564"/>
          </a:solidFill>
          <a:ln>
            <a:solidFill>
              <a:srgbClr val="32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096512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01421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F38"/>
                </a:solidFill>
                <a:latin typeface="Aptos"/>
              </a:rPr>
              <a:t>Build application</a:t>
            </a:r>
          </a:p>
        </p:txBody>
      </p:sp>
      <p:sp>
        <p:nvSpPr>
          <p:cNvPr id="18" name="Oval 17"/>
          <p:cNvSpPr/>
          <p:nvPr/>
        </p:nvSpPr>
        <p:spPr>
          <a:xfrm>
            <a:off x="1371600" y="4617720"/>
            <a:ext cx="384048" cy="384048"/>
          </a:xfrm>
          <a:prstGeom prst="ellipse">
            <a:avLst/>
          </a:prstGeom>
          <a:solidFill>
            <a:srgbClr val="EB8C2D"/>
          </a:solidFill>
          <a:ln>
            <a:solidFill>
              <a:srgbClr val="EB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690872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6085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F38"/>
                </a:solidFill>
                <a:latin typeface="Aptos"/>
              </a:rPr>
              <a:t>Run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806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F38"/>
                </a:solidFill>
                <a:latin typeface="Aptos"/>
              </a:rPr>
              <a:t>A job is a sequence of steps executed by a runner.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Your first workflow — read it visually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name: 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on: [push]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jobs: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  build: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    runs-on: ubuntu-latest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    steps: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      - uses: actions/checkout@v4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      - run: npm 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      - run: npm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325880"/>
            <a:ext cx="1143000" cy="310896"/>
          </a:xfrm>
          <a:prstGeom prst="roundRect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33502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13441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Workflow label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2011680"/>
            <a:ext cx="1143000" cy="310896"/>
          </a:xfrm>
          <a:prstGeom prst="roundRect">
            <a:avLst/>
          </a:prstGeom>
          <a:solidFill>
            <a:srgbClr val="23AABE"/>
          </a:solidFill>
          <a:ln>
            <a:solidFill>
              <a:srgbClr val="23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202082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0299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Trigger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2697480"/>
            <a:ext cx="1143000" cy="310896"/>
          </a:xfrm>
          <a:prstGeom prst="roundRect">
            <a:avLst/>
          </a:prstGeom>
          <a:solidFill>
            <a:srgbClr val="7855B9"/>
          </a:solidFill>
          <a:ln>
            <a:solidFill>
              <a:srgbClr val="785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70662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jobs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7157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Work units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3383280"/>
            <a:ext cx="1143000" cy="310896"/>
          </a:xfrm>
          <a:prstGeom prst="roundRect">
            <a:avLst/>
          </a:prstGeom>
          <a:solidFill>
            <a:srgbClr val="EB8C2D"/>
          </a:solidFill>
          <a:ln>
            <a:solidFill>
              <a:srgbClr val="EB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39242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runs-on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34015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Execution environment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0" y="4069080"/>
            <a:ext cx="1143000" cy="310896"/>
          </a:xfrm>
          <a:prstGeom prst="roundRect">
            <a:avLst/>
          </a:prstGeom>
          <a:solidFill>
            <a:srgbClr val="32A564"/>
          </a:solidFill>
          <a:ln>
            <a:solidFill>
              <a:srgbClr val="32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407822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4087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Reusable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12280" y="4754880"/>
            <a:ext cx="1143000" cy="310896"/>
          </a:xfrm>
          <a:prstGeom prst="roundRect">
            <a:avLst/>
          </a:prstGeom>
          <a:solidFill>
            <a:srgbClr val="CD4646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476402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47731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Shell command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YAML: indentation is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480560"/>
          </a:xfrm>
          <a:prstGeom prst="roundRect">
            <a:avLst/>
          </a:prstGeom>
          <a:solidFill>
            <a:srgbClr val="141F38"/>
          </a:solidFill>
          <a:ln>
            <a:solidFill>
              <a:srgbClr val="14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jobs: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2128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  build: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6883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    runs-on: ubuntu-latest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1638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   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6393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      - name: Checkout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        uses: actions/checkout@v4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590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      - name: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0657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        run: npm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029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7830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41F38"/>
                </a:solidFill>
                <a:latin typeface="Aptos"/>
              </a:rPr>
              <a:t>Think hierarchy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423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D6EC8"/>
                </a:solidFill>
                <a:latin typeface="Aptos"/>
              </a:rPr>
              <a:t>workflow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15400" y="2743200"/>
            <a:ext cx="0" cy="320040"/>
          </a:xfrm>
          <a:prstGeom prst="line">
            <a:avLst/>
          </a:prstGeom>
          <a:ln w="25400">
            <a:solidFill>
              <a:srgbClr val="2D6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0" y="3154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7855B9"/>
                </a:solidFill>
                <a:latin typeface="Aptos"/>
              </a:rPr>
              <a:t>job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15400" y="3474720"/>
            <a:ext cx="0" cy="320040"/>
          </a:xfrm>
          <a:prstGeom prst="line">
            <a:avLst/>
          </a:prstGeom>
          <a:ln w="25400">
            <a:solidFill>
              <a:srgbClr val="7855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0" y="3886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2A564"/>
                </a:solidFill>
                <a:latin typeface="Aptos"/>
              </a:rPr>
              <a:t>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75488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F6978"/>
                </a:solidFill>
                <a:latin typeface="Aptos"/>
              </a:rPr>
              <a:t>Indentation tells YAML what belongs inside what.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What is an Action?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333756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73152" cy="4023360"/>
          </a:xfrm>
          <a:prstGeom prst="roundRect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8191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Reusable building block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039112"/>
            <a:ext cx="2971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978"/>
                </a:solidFill>
                <a:latin typeface="Aptos"/>
              </a:rPr>
              <a:t>A packaged capability that you can call from a workflow instead of implementing every integration yourself.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33756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73152" cy="4023360"/>
          </a:xfrm>
          <a:prstGeom prst="roundRect">
            <a:avLst/>
          </a:prstGeom>
          <a:solidFill>
            <a:srgbClr val="23AABE"/>
          </a:solidFill>
          <a:ln>
            <a:solidFill>
              <a:srgbClr val="23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158191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Common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2039112"/>
            <a:ext cx="2971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978"/>
                </a:solidFill>
                <a:latin typeface="Aptos"/>
              </a:rPr>
              <a:t>Checkout source code, set up a runtime, authenticate to a cloud, build images, publish artifacts and more.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33756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73152" cy="4023360"/>
          </a:xfrm>
          <a:prstGeom prst="roundRect">
            <a:avLst/>
          </a:prstGeom>
          <a:solidFill>
            <a:srgbClr val="32A564"/>
          </a:solidFill>
          <a:ln>
            <a:solidFill>
              <a:srgbClr val="32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How it appears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71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978"/>
                </a:solidFill>
                <a:latin typeface="Aptos"/>
              </a:rPr>
              <a:t>uses: owner/action@version
The action handles the implementation; your workflow supplies the inputs.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806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F38"/>
                </a:solidFill>
                <a:latin typeface="Aptos"/>
              </a:rPr>
              <a:t>Documentation tells you the action's inputs, outputs, permissions and usage.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Marketplace + documentation: don't reinvent the wheel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657600" cy="4114800"/>
          </a:xfrm>
          <a:prstGeom prst="roundRect">
            <a:avLst/>
          </a:prstGeom>
          <a:solidFill>
            <a:srgbClr val="141F38"/>
          </a:solidFill>
          <a:ln>
            <a:solidFill>
              <a:srgbClr val="14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Need a capability?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560320"/>
            <a:ext cx="2011680" cy="310896"/>
          </a:xfrm>
          <a:prstGeom prst="roundRect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569463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CHECKOUT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063239"/>
            <a:ext cx="2011680" cy="310896"/>
          </a:xfrm>
          <a:prstGeom prst="roundRect">
            <a:avLst/>
          </a:prstGeom>
          <a:solidFill>
            <a:srgbClr val="23AABE"/>
          </a:solidFill>
          <a:ln>
            <a:solidFill>
              <a:srgbClr val="23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072383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566160"/>
            <a:ext cx="2011680" cy="310896"/>
          </a:xfrm>
          <a:prstGeom prst="roundRect">
            <a:avLst/>
          </a:prstGeom>
          <a:solidFill>
            <a:srgbClr val="EB8C2D"/>
          </a:solidFill>
          <a:ln>
            <a:solidFill>
              <a:srgbClr val="EB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575303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SONAR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069080"/>
            <a:ext cx="2011680" cy="310896"/>
          </a:xfrm>
          <a:prstGeom prst="roundRect">
            <a:avLst/>
          </a:prstGeom>
          <a:solidFill>
            <a:srgbClr val="7855B9"/>
          </a:solidFill>
          <a:ln>
            <a:solidFill>
              <a:srgbClr val="785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7822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KUBERNETES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34840" y="3383280"/>
            <a:ext cx="114300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669280" y="1417320"/>
            <a:ext cx="5669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8288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41F38"/>
                </a:solidFill>
                <a:latin typeface="Aptos"/>
              </a:rPr>
              <a:t>Search → Read → Version →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51760"/>
            <a:ext cx="4206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F6978"/>
                </a:solidFill>
                <a:latin typeface="Aptos"/>
              </a:rPr>
              <a:t>Check:
• inputs and parameters
• permissions
• supported versions
• examples
• security considerations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7150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F38"/>
                </a:solidFill>
                <a:latin typeface="Aptos"/>
              </a:rPr>
              <a:t>Avoid blindly copying third-party YAML.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Runners: where does the job execute?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52578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73152" cy="4114800"/>
          </a:xfrm>
          <a:prstGeom prst="roundRect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81912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GitHub-hosted runner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039112"/>
            <a:ext cx="48920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978"/>
                </a:solidFill>
                <a:latin typeface="Aptos"/>
              </a:rPr>
              <a:t>GitHub provides the execution environment.
Good default for many CI jobs.
Typical workflow choice: runs-on: ubuntu-latest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578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73152" cy="4114800"/>
          </a:xfrm>
          <a:prstGeom prst="roundRect">
            <a:avLst/>
          </a:prstGeom>
          <a:solidFill>
            <a:srgbClr val="EB8C2D"/>
          </a:solidFill>
          <a:ln>
            <a:solidFill>
              <a:srgbClr val="EB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581912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Self-hosted runner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039112"/>
            <a:ext cx="48920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978"/>
                </a:solidFill>
                <a:latin typeface="Aptos"/>
              </a:rPr>
              <a:t>Your organization provides the machine.
Useful for private networks, special hardware, custom software or organization-specific controls.
Also means more operational responsibility.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Why choose a self-hosted runner?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73152" cy="1828800"/>
          </a:xfrm>
          <a:prstGeom prst="roundRect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581912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Private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039112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Aptos"/>
              </a:rPr>
              <a:t>Access internal systems or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73152" cy="1828800"/>
          </a:xfrm>
          <a:prstGeom prst="roundRect">
            <a:avLst/>
          </a:prstGeom>
          <a:solidFill>
            <a:srgbClr val="7855B9"/>
          </a:solidFill>
          <a:ln>
            <a:solidFill>
              <a:srgbClr val="785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581912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Special 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039112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Aptos"/>
              </a:rPr>
              <a:t>GPU, large compute or custom devices.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73152" cy="1828800"/>
          </a:xfrm>
          <a:prstGeom prst="roundRect">
            <a:avLst/>
          </a:prstGeom>
          <a:solidFill>
            <a:srgbClr val="EB8C2D"/>
          </a:solidFill>
          <a:ln>
            <a:solidFill>
              <a:srgbClr val="EB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822191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Custom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279392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Aptos"/>
              </a:rPr>
              <a:t>Enterprise tools or preinstalled dependencies.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3657600"/>
            <a:ext cx="73152" cy="1828800"/>
          </a:xfrm>
          <a:prstGeom prst="roundRect">
            <a:avLst/>
          </a:prstGeom>
          <a:solidFill>
            <a:srgbClr val="CD4646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3822191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Control 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4279392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Aptos"/>
              </a:rPr>
              <a:t>Organization-specific network and execution controls.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8064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F6978"/>
                </a:solidFill>
                <a:latin typeface="Aptos"/>
              </a:rPr>
              <a:t>More control also means responsibility for patching, isolation, scaling and security.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Secrets: credentials should not live in source 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029200" cy="4160520"/>
          </a:xfrm>
          <a:prstGeom prst="roundRect">
            <a:avLst/>
          </a:prstGeom>
          <a:solidFill>
            <a:srgbClr val="FFF5F5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697480" y="1737360"/>
            <a:ext cx="1005840" cy="310896"/>
          </a:xfrm>
          <a:prstGeom prst="roundRect">
            <a:avLst/>
          </a:prstGeom>
          <a:solidFill>
            <a:srgbClr val="CD4646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97480" y="17465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DON'T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14600"/>
            <a:ext cx="4206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4646"/>
                </a:solidFill>
                <a:latin typeface="Aptos"/>
              </a:rPr>
              <a:t>password: ...
api-key: ...
kubeconfig: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1605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F6978"/>
                </a:solidFill>
                <a:latin typeface="Aptos"/>
              </a:rPr>
              <a:t>Hard-coded secrets can leak through source, logs or artifacts.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029200" cy="4160520"/>
          </a:xfrm>
          <a:prstGeom prst="roundRect">
            <a:avLst/>
          </a:prstGeom>
          <a:solidFill>
            <a:srgbClr val="F2FBF6"/>
          </a:solidFill>
          <a:ln>
            <a:solidFill>
              <a:srgbClr val="32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1737360"/>
            <a:ext cx="1005840" cy="310896"/>
          </a:xfrm>
          <a:prstGeom prst="roundRect">
            <a:avLst/>
          </a:prstGeom>
          <a:solidFill>
            <a:srgbClr val="32A564"/>
          </a:solidFill>
          <a:ln>
            <a:solidFill>
              <a:srgbClr val="32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7465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3774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F38"/>
                </a:solidFill>
                <a:latin typeface="Aptos"/>
              </a:rPr>
              <a:t>GitHub secret
      ↓
${{ secrets.MY_SECRET 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16052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F6978"/>
                </a:solidFill>
                <a:latin typeface="Aptos"/>
              </a:rPr>
              <a:t>Store sensitive values using GitHub's secret-management mechanism and reference them from the workflow.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Real CI example: Java + Maven + Sonar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828800"/>
            <a:ext cx="1600200" cy="2011680"/>
          </a:xfrm>
          <a:prstGeom prst="roundRect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2240280"/>
            <a:ext cx="1453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Checkout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718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Get source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39112" y="2788920"/>
            <a:ext cx="246888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77440" y="1828800"/>
            <a:ext cx="1600200" cy="2011680"/>
          </a:xfrm>
          <a:prstGeom prst="roundRect">
            <a:avLst/>
          </a:prstGeom>
          <a:solidFill>
            <a:srgbClr val="23AABE"/>
          </a:solidFill>
          <a:ln>
            <a:solidFill>
              <a:srgbClr val="23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2240280"/>
            <a:ext cx="1453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Setup 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9718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Runtime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05072" y="2788920"/>
            <a:ext cx="246888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43400" y="1828800"/>
            <a:ext cx="1600200" cy="2011680"/>
          </a:xfrm>
          <a:prstGeom prst="roundRect">
            <a:avLst/>
          </a:prstGeom>
          <a:solidFill>
            <a:srgbClr val="32A564"/>
          </a:solidFill>
          <a:ln>
            <a:solidFill>
              <a:srgbClr val="32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2240280"/>
            <a:ext cx="1453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Maven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9718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Build/package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71032" y="2788920"/>
            <a:ext cx="246888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09359" y="1828800"/>
            <a:ext cx="1600200" cy="2011680"/>
          </a:xfrm>
          <a:prstGeom prst="roundRect">
            <a:avLst/>
          </a:prstGeom>
          <a:solidFill>
            <a:srgbClr val="EB8C2D"/>
          </a:solidFill>
          <a:ln>
            <a:solidFill>
              <a:srgbClr val="EB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240280"/>
            <a:ext cx="1453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799" y="29718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36992" y="2788920"/>
            <a:ext cx="246887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75319" y="1828800"/>
            <a:ext cx="1600200" cy="2011680"/>
          </a:xfrm>
          <a:prstGeom prst="roundRect">
            <a:avLst/>
          </a:prstGeom>
          <a:solidFill>
            <a:srgbClr val="7855B9"/>
          </a:solidFill>
          <a:ln>
            <a:solidFill>
              <a:srgbClr val="785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1" y="2240280"/>
            <a:ext cx="1453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Sonar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29718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Quality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902951" y="2788920"/>
            <a:ext cx="246888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241280" y="1828800"/>
            <a:ext cx="1600200" cy="2011680"/>
          </a:xfrm>
          <a:prstGeom prst="roundRect">
            <a:avLst/>
          </a:prstGeom>
          <a:solidFill>
            <a:srgbClr val="CD4646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14432" y="2240280"/>
            <a:ext cx="1453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Artifact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9" y="29718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Next stage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0749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F38"/>
                </a:solidFill>
                <a:latin typeface="Aptos"/>
              </a:rPr>
              <a:t>GitHub Actions orchestrates the sequence; tools/actions perform the individual tasks.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Real deployment example: Docker → Kubernetes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28800"/>
            <a:ext cx="2240280" cy="2103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2103120"/>
            <a:ext cx="1234440" cy="310896"/>
          </a:xfrm>
          <a:prstGeom prst="roundRect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1226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F38"/>
                </a:solidFill>
                <a:latin typeface="Aptos"/>
              </a:rPr>
              <a:t>Repository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88920" y="2880360"/>
            <a:ext cx="502919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83280" y="1828800"/>
            <a:ext cx="2240280" cy="2103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86200" y="2103120"/>
            <a:ext cx="1234440" cy="310896"/>
          </a:xfrm>
          <a:prstGeom prst="roundRect">
            <a:avLst/>
          </a:prstGeom>
          <a:solidFill>
            <a:srgbClr val="23AABE"/>
          </a:solidFill>
          <a:ln>
            <a:solidFill>
              <a:srgbClr val="23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211226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8803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F38"/>
                </a:solidFill>
                <a:latin typeface="Aptos"/>
              </a:rPr>
              <a:t>Docker image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0" y="2880360"/>
            <a:ext cx="50292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63640" y="1828800"/>
            <a:ext cx="2240280" cy="2103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59" y="2103120"/>
            <a:ext cx="1234440" cy="310896"/>
          </a:xfrm>
          <a:prstGeom prst="roundRect">
            <a:avLst/>
          </a:prstGeom>
          <a:solidFill>
            <a:srgbClr val="7855B9"/>
          </a:solidFill>
          <a:ln>
            <a:solidFill>
              <a:srgbClr val="785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59" y="211226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803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F38"/>
                </a:solidFill>
                <a:latin typeface="Aptos"/>
              </a:rPr>
              <a:t>Kubernetes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49640" y="2880360"/>
            <a:ext cx="502919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0" y="1828800"/>
            <a:ext cx="2240280" cy="2103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46920" y="2103120"/>
            <a:ext cx="1234440" cy="310896"/>
          </a:xfrm>
          <a:prstGeom prst="roundRect">
            <a:avLst/>
          </a:prstGeom>
          <a:solidFill>
            <a:srgbClr val="32A564"/>
          </a:solidFill>
          <a:ln>
            <a:solidFill>
              <a:srgbClr val="32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211226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8803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F38"/>
                </a:solidFill>
                <a:latin typeface="Aptos"/>
              </a:rPr>
              <a:t>Running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0749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F38"/>
                </a:solidFill>
                <a:latin typeface="Aptos"/>
              </a:rPr>
              <a:t>The same workflow concepts scale from a simple test to a full build → quality → deployment pipeline.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How a workflow executes — end to 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59" y="1783080"/>
            <a:ext cx="502920" cy="502920"/>
          </a:xfrm>
          <a:prstGeom prst="ellipse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874520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83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Push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6304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09159" y="1783080"/>
            <a:ext cx="502920" cy="502920"/>
          </a:xfrm>
          <a:prstGeom prst="ellipse">
            <a:avLst/>
          </a:prstGeom>
          <a:solidFill>
            <a:srgbClr val="23AABE"/>
          </a:solidFill>
          <a:ln>
            <a:solidFill>
              <a:srgbClr val="23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1874520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783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Event matches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46304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0" y="1783080"/>
            <a:ext cx="502920" cy="502920"/>
          </a:xfrm>
          <a:prstGeom prst="ellipse">
            <a:avLst/>
          </a:prstGeom>
          <a:solidFill>
            <a:srgbClr val="7855B9"/>
          </a:solidFill>
          <a:ln>
            <a:solidFill>
              <a:srgbClr val="785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874520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783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Workflow selected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59" y="3931920"/>
            <a:ext cx="502920" cy="502920"/>
          </a:xfrm>
          <a:prstGeom prst="ellipse">
            <a:avLst/>
          </a:prstGeom>
          <a:solidFill>
            <a:srgbClr val="EB8C2D"/>
          </a:solidFill>
          <a:ln>
            <a:solidFill>
              <a:srgbClr val="EB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023360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931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Runner starts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61188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09159" y="3931920"/>
            <a:ext cx="502920" cy="502920"/>
          </a:xfrm>
          <a:prstGeom prst="ellipse">
            <a:avLst/>
          </a:prstGeom>
          <a:solidFill>
            <a:srgbClr val="32A564"/>
          </a:solidFill>
          <a:ln>
            <a:solidFill>
              <a:srgbClr val="32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59" y="4023360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931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Steps execute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61188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95360" y="3931920"/>
            <a:ext cx="502920" cy="502920"/>
          </a:xfrm>
          <a:prstGeom prst="ellipse">
            <a:avLst/>
          </a:prstGeom>
          <a:solidFill>
            <a:srgbClr val="CD4646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4023360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931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Logs +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62356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F38"/>
                </a:solidFill>
                <a:latin typeface="Aptos"/>
              </a:rPr>
              <a:t>This execution tree is the foundation for debugging.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Multiple workflows = multiple responsibilities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64592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1920240"/>
            <a:ext cx="1965960" cy="310896"/>
          </a:xfrm>
          <a:prstGeom prst="roundRect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9384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F38"/>
                </a:solidFill>
                <a:latin typeface="Aptos"/>
              </a:rPr>
              <a:t>Description, links, formatting,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49039" y="1920240"/>
            <a:ext cx="1965960" cy="310896"/>
          </a:xfrm>
          <a:prstGeom prst="roundRect">
            <a:avLst/>
          </a:prstGeom>
          <a:solidFill>
            <a:srgbClr val="32A564"/>
          </a:solidFill>
          <a:ln>
            <a:solidFill>
              <a:srgbClr val="32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929384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743200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F38"/>
                </a:solidFill>
                <a:latin typeface="Aptos"/>
              </a:rPr>
              <a:t>Build + unit/integration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4592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29400" y="1920240"/>
            <a:ext cx="1965960" cy="310896"/>
          </a:xfrm>
          <a:prstGeom prst="roundRect">
            <a:avLst/>
          </a:prstGeom>
          <a:solidFill>
            <a:srgbClr val="7855B9"/>
          </a:solidFill>
          <a:ln>
            <a:solidFill>
              <a:srgbClr val="785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929384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Quality /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743200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F38"/>
                </a:solidFill>
                <a:latin typeface="Aptos"/>
              </a:rPr>
              <a:t>Lint, scan, Sonar, policy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64592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09760" y="1920240"/>
            <a:ext cx="1965960" cy="310896"/>
          </a:xfrm>
          <a:prstGeom prst="roundRect">
            <a:avLst/>
          </a:prstGeom>
          <a:solidFill>
            <a:srgbClr val="EB8C2D"/>
          </a:solidFill>
          <a:ln>
            <a:solidFill>
              <a:srgbClr val="EB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929384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743200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F38"/>
                </a:solidFill>
                <a:latin typeface="Aptos"/>
              </a:rPr>
              <a:t>Package and 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66928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1F38"/>
                </a:solidFill>
                <a:latin typeface="Aptos"/>
              </a:rPr>
              <a:t>Keep workflows focused instead of creating one giant YAML file.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GitHub Actions vs Jenkins — practical 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2148840" cy="621792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7218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1F38"/>
                </a:solidFill>
                <a:latin typeface="Aptos"/>
              </a:rPr>
              <a:t>Where automation lives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1325880"/>
            <a:ext cx="3840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54680" y="14447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Repository workflow 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325880"/>
            <a:ext cx="4114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4447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Separate CI/CD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2148840" cy="621792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9514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1F38"/>
                </a:solidFill>
                <a:latin typeface="Aptos"/>
              </a:rPr>
              <a:t>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148840"/>
            <a:ext cx="3840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22677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GitHub-hosted or self-hosted runners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148840"/>
            <a:ext cx="4114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22677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Agents / nodes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71800"/>
            <a:ext cx="2148840" cy="621792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1810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1F38"/>
                </a:solidFill>
                <a:latin typeface="Aptos"/>
              </a:rPr>
              <a:t>Platform maintenance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2971800"/>
            <a:ext cx="3840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30906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Hosted model reduces platform setup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2971800"/>
            <a:ext cx="4114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30906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You operate Jenkins infrastructure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94760"/>
            <a:ext cx="2148840" cy="621792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94106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1F38"/>
                </a:solidFill>
                <a:latin typeface="Aptos"/>
              </a:rPr>
              <a:t>Portability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71800" y="3794760"/>
            <a:ext cx="3840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54680" y="39136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Tightly integrated with GitHub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3794760"/>
            <a:ext cx="4114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391363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Separate automation platform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617720"/>
            <a:ext cx="2148840" cy="621792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76402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1F38"/>
                </a:solidFill>
                <a:latin typeface="Aptos"/>
              </a:rPr>
              <a:t>Extensibility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71800" y="4617720"/>
            <a:ext cx="3840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54680" y="4736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Actions + scripts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4617720"/>
            <a:ext cx="41148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473659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Plugins + scripts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66928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F38"/>
                </a:solidFill>
                <a:latin typeface="Aptos"/>
              </a:rPr>
              <a:t>Choose based on platform strategy, portability, controls and existing investment.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Advantages and trade-offs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474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73152" cy="4160520"/>
          </a:xfrm>
          <a:prstGeom prst="roundRect">
            <a:avLst/>
          </a:prstGeom>
          <a:solidFill>
            <a:srgbClr val="32A564"/>
          </a:solidFill>
          <a:ln>
            <a:solidFill>
              <a:srgbClr val="32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5361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993392"/>
            <a:ext cx="310896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Aptos"/>
              </a:rPr>
              <a:t>• GitHub-native developer experience
• Workflow-as-code
• Reusable action ecosystem
• Hosted runners available
• Clear repository visibility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73152" cy="4160520"/>
          </a:xfrm>
          <a:prstGeom prst="roundRect">
            <a:avLst/>
          </a:prstGeom>
          <a:solidFill>
            <a:srgbClr val="EB8C2D"/>
          </a:solidFill>
          <a:ln>
            <a:solidFill>
              <a:srgbClr val="EB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5361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Trade-offs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993392"/>
            <a:ext cx="310896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Aptos"/>
              </a:rPr>
              <a:t>• Complex workflows can be hard to maintain
• Third-party actions need trust and version management
• Self-hosted runners add operations
• GitHub coupling matters for migrations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74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73152" cy="4160520"/>
          </a:xfrm>
          <a:prstGeom prst="roundRect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5361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Decision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93392"/>
            <a:ext cx="310896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Aptos"/>
              </a:rPr>
              <a:t>• Where is the source code?
• Do we need portability?
• Who operates runners?
• What security controls apply?
• What workload will run?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Common beginner mistakes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73152" cy="1234440"/>
          </a:xfrm>
          <a:prstGeom prst="roundRect">
            <a:avLst/>
          </a:prstGeom>
          <a:solidFill>
            <a:srgbClr val="CD4646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490472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Wrong indentation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947672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YAML hierarchy breaks.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73152" cy="1234440"/>
          </a:xfrm>
          <a:prstGeom prst="roundRect">
            <a:avLst/>
          </a:prstGeom>
          <a:solidFill>
            <a:srgbClr val="EB8C2D"/>
          </a:solidFill>
          <a:ln>
            <a:solidFill>
              <a:srgbClr val="EB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490472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Secrets in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947672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Credentials may leak.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8036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880360"/>
            <a:ext cx="73152" cy="1234440"/>
          </a:xfrm>
          <a:prstGeom prst="roundRect">
            <a:avLst/>
          </a:prstGeom>
          <a:solidFill>
            <a:srgbClr val="7855B9"/>
          </a:solidFill>
          <a:ln>
            <a:solidFill>
              <a:srgbClr val="785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044952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Blindly copying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502152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Unknown code can introduce risk.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88036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2880360"/>
            <a:ext cx="73152" cy="1234440"/>
          </a:xfrm>
          <a:prstGeom prst="roundRect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3044952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One huge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3502152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Harder to debug and maintain.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3484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434840"/>
            <a:ext cx="73152" cy="1234440"/>
          </a:xfrm>
          <a:prstGeom prst="roundRect">
            <a:avLst/>
          </a:prstGeom>
          <a:solidFill>
            <a:srgbClr val="23AABE"/>
          </a:solidFill>
          <a:ln>
            <a:solidFill>
              <a:srgbClr val="23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4599431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Ignoring runner needs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5056631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978"/>
                </a:solidFill>
                <a:latin typeface="Aptos"/>
              </a:rPr>
              <a:t>Missing tools, network or compute.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Level 1 hands-on exercise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716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1664208"/>
            <a:ext cx="457200" cy="457200"/>
          </a:xfrm>
          <a:prstGeom prst="ellipse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F38"/>
                </a:solidFill>
                <a:latin typeface="Aptos"/>
              </a:rPr>
              <a:t>Create a GitHub repository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716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09160" y="1664208"/>
            <a:ext cx="457200" cy="457200"/>
          </a:xfrm>
          <a:prstGeom prst="ellipse">
            <a:avLst/>
          </a:prstGeom>
          <a:solidFill>
            <a:srgbClr val="23AABE"/>
          </a:solidFill>
          <a:ln>
            <a:solidFill>
              <a:srgbClr val="23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75564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69164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F38"/>
                </a:solidFill>
                <a:latin typeface="Aptos"/>
              </a:rPr>
              <a:t>Create .github/workflows/ci.yml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3716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49640" y="1664208"/>
            <a:ext cx="457200" cy="457200"/>
          </a:xfrm>
          <a:prstGeom prst="ellipse">
            <a:avLst/>
          </a:prstGeom>
          <a:solidFill>
            <a:srgbClr val="7855B9"/>
          </a:solidFill>
          <a:ln>
            <a:solidFill>
              <a:srgbClr val="785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75564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69164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F38"/>
                </a:solidFill>
                <a:latin typeface="Aptos"/>
              </a:rPr>
              <a:t>Trigger on push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290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721608"/>
            <a:ext cx="457200" cy="457200"/>
          </a:xfrm>
          <a:prstGeom prst="ellipse">
            <a:avLst/>
          </a:prstGeom>
          <a:solidFill>
            <a:srgbClr val="EB8C2D"/>
          </a:solidFill>
          <a:ln>
            <a:solidFill>
              <a:srgbClr val="EB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1304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749039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F38"/>
                </a:solidFill>
                <a:latin typeface="Aptos"/>
              </a:rPr>
              <a:t>Use ubuntu-latest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4290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09160" y="3721608"/>
            <a:ext cx="457200" cy="457200"/>
          </a:xfrm>
          <a:prstGeom prst="ellipse">
            <a:avLst/>
          </a:prstGeom>
          <a:solidFill>
            <a:srgbClr val="32A564"/>
          </a:solidFill>
          <a:ln>
            <a:solidFill>
              <a:srgbClr val="32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381304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749039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F38"/>
                </a:solidFill>
                <a:latin typeface="Aptos"/>
              </a:rPr>
              <a:t>Checkout the repository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4290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49640" y="3721608"/>
            <a:ext cx="457200" cy="457200"/>
          </a:xfrm>
          <a:prstGeom prst="ellipse">
            <a:avLst/>
          </a:prstGeom>
          <a:solidFill>
            <a:srgbClr val="CD4646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381304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749039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F38"/>
                </a:solidFill>
                <a:latin typeface="Aptos"/>
              </a:rPr>
              <a:t>Run a simple test command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5778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41F38"/>
                </a:solidFill>
                <a:latin typeface="Aptos"/>
              </a:rPr>
              <a:t>Then open Actions → inspect the workflow → job → steps → logs.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Debugging mindset: follow the execution tree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1920240" cy="310896"/>
          </a:xfrm>
          <a:prstGeom prst="roundRect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1790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Workflow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20240" y="1819656"/>
            <a:ext cx="0" cy="448056"/>
          </a:xfrm>
          <a:prstGeom prst="line">
            <a:avLst/>
          </a:prstGeom>
          <a:ln w="19050">
            <a:solidFill>
              <a:srgbClr val="2D6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286000"/>
            <a:ext cx="1920240" cy="310896"/>
          </a:xfrm>
          <a:prstGeom prst="roundRect">
            <a:avLst/>
          </a:prstGeom>
          <a:solidFill>
            <a:srgbClr val="7855B9"/>
          </a:solidFill>
          <a:ln>
            <a:solidFill>
              <a:srgbClr val="785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951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Job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596896"/>
            <a:ext cx="0" cy="448056"/>
          </a:xfrm>
          <a:prstGeom prst="line">
            <a:avLst/>
          </a:prstGeom>
          <a:ln w="19050">
            <a:solidFill>
              <a:srgbClr val="7855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3063239"/>
            <a:ext cx="1920240" cy="310896"/>
          </a:xfrm>
          <a:prstGeom prst="roundRect">
            <a:avLst/>
          </a:prstGeom>
          <a:solidFill>
            <a:srgbClr val="32A564"/>
          </a:solidFill>
          <a:ln>
            <a:solidFill>
              <a:srgbClr val="32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72383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Step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374135"/>
            <a:ext cx="0" cy="448056"/>
          </a:xfrm>
          <a:prstGeom prst="line">
            <a:avLst/>
          </a:prstGeom>
          <a:ln w="19050">
            <a:solidFill>
              <a:srgbClr val="32A5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" y="3840479"/>
            <a:ext cx="1920240" cy="310896"/>
          </a:xfrm>
          <a:prstGeom prst="roundRect">
            <a:avLst/>
          </a:prstGeom>
          <a:solidFill>
            <a:srgbClr val="EB8C2D"/>
          </a:solidFill>
          <a:ln>
            <a:solidFill>
              <a:srgbClr val="EB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9623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Command / 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1325880"/>
            <a:ext cx="7406640" cy="4389120"/>
          </a:xfrm>
          <a:prstGeom prst="roundRect">
            <a:avLst/>
          </a:prstGeom>
          <a:solidFill>
            <a:srgbClr val="F4F7FB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173736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41F38"/>
                </a:solidFill>
                <a:latin typeface="Aptos"/>
              </a:rPr>
              <a:t>Ask these questions in 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42316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Aptos"/>
              </a:rPr>
              <a:t>• Did the workflow trigger?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88036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Aptos"/>
              </a:rPr>
              <a:t>• Did the job start on the expected runner?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33756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Aptos"/>
              </a:rPr>
              <a:t>• Which exact step failed?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79476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Aptos"/>
              </a:rPr>
              <a:t>• What do the logs say?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25196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Aptos"/>
              </a:rPr>
              <a:t>• Are action inputs/version correct?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70916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Aptos"/>
              </a:rPr>
              <a:t>• Are permissions, secrets or environment dependencies missing?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Knowledge check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234440"/>
            <a:ext cx="365760" cy="365760"/>
          </a:xfrm>
          <a:prstGeom prst="ellipse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0759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216152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F38"/>
                </a:solidFill>
                <a:latin typeface="Aptos"/>
              </a:rPr>
              <a:t>What is the difference between an event, workflow, job and step?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947672"/>
            <a:ext cx="365760" cy="365760"/>
          </a:xfrm>
          <a:prstGeom prst="ellipse">
            <a:avLst/>
          </a:prstGeom>
          <a:solidFill>
            <a:srgbClr val="23AABE"/>
          </a:solidFill>
          <a:ln>
            <a:solidFill>
              <a:srgbClr val="23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0824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29384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F38"/>
                </a:solidFill>
                <a:latin typeface="Aptos"/>
              </a:rPr>
              <a:t>Where are workflow YAML files stored?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660904"/>
            <a:ext cx="365760" cy="365760"/>
          </a:xfrm>
          <a:prstGeom prst="ellipse">
            <a:avLst/>
          </a:prstGeom>
          <a:solidFill>
            <a:srgbClr val="7855B9"/>
          </a:solidFill>
          <a:ln>
            <a:solidFill>
              <a:srgbClr val="785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3405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42616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F38"/>
                </a:solidFill>
                <a:latin typeface="Aptos"/>
              </a:rPr>
              <a:t>What does runs-on control?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374136"/>
            <a:ext cx="365760" cy="365760"/>
          </a:xfrm>
          <a:prstGeom prst="ellipse">
            <a:avLst/>
          </a:prstGeom>
          <a:solidFill>
            <a:srgbClr val="32A564"/>
          </a:solidFill>
          <a:ln>
            <a:solidFill>
              <a:srgbClr val="32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4728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5584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F38"/>
                </a:solidFill>
                <a:latin typeface="Aptos"/>
              </a:rPr>
              <a:t>When would you use uses: instead of run:?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087368"/>
            <a:ext cx="365760" cy="365760"/>
          </a:xfrm>
          <a:prstGeom prst="ellipse">
            <a:avLst/>
          </a:prstGeom>
          <a:solidFill>
            <a:srgbClr val="EB8C2D"/>
          </a:solidFill>
          <a:ln>
            <a:solidFill>
              <a:srgbClr val="EB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069080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F38"/>
                </a:solidFill>
                <a:latin typeface="Aptos"/>
              </a:rPr>
              <a:t>Why should secrets not be committed?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800600"/>
            <a:ext cx="365760" cy="365760"/>
          </a:xfrm>
          <a:prstGeom prst="ellipse">
            <a:avLst/>
          </a:prstGeom>
          <a:solidFill>
            <a:srgbClr val="CD4646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7375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782312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F38"/>
                </a:solidFill>
                <a:latin typeface="Aptos"/>
              </a:rPr>
              <a:t>When might you choose a self-hosted runner?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The Level 1 mental model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2331720"/>
            <a:ext cx="713232" cy="713232"/>
          </a:xfrm>
          <a:prstGeom prst="ellipse">
            <a:avLst/>
          </a:prstGeom>
          <a:solidFill>
            <a:srgbClr val="2D6EC8"/>
          </a:solidFill>
          <a:ln>
            <a:solidFill>
              <a:srgbClr val="2D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59" y="3246120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59" y="3657600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ED2EB"/>
                </a:solidFill>
                <a:latin typeface="Aptos"/>
              </a:rPr>
              <a:t>trigger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99031" y="2688336"/>
            <a:ext cx="1325880" cy="0"/>
          </a:xfrm>
          <a:prstGeom prst="line">
            <a:avLst/>
          </a:prstGeom>
          <a:ln w="25400">
            <a:solidFill>
              <a:srgbClr val="96AF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926080" y="2331720"/>
            <a:ext cx="713232" cy="713232"/>
          </a:xfrm>
          <a:prstGeom prst="ellipse">
            <a:avLst/>
          </a:prstGeom>
          <a:solidFill>
            <a:srgbClr val="23AABE"/>
          </a:solidFill>
          <a:ln>
            <a:solidFill>
              <a:srgbClr val="23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423160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246120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657600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ED2EB"/>
                </a:solidFill>
                <a:latin typeface="Aptos"/>
              </a:rPr>
              <a:t>YAML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85032" y="2688336"/>
            <a:ext cx="1325880" cy="0"/>
          </a:xfrm>
          <a:prstGeom prst="line">
            <a:avLst/>
          </a:prstGeom>
          <a:ln w="25400">
            <a:solidFill>
              <a:srgbClr val="96AF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212080" y="2331720"/>
            <a:ext cx="713232" cy="713232"/>
          </a:xfrm>
          <a:prstGeom prst="ellipse">
            <a:avLst/>
          </a:prstGeom>
          <a:solidFill>
            <a:srgbClr val="7855B9"/>
          </a:solidFill>
          <a:ln>
            <a:solidFill>
              <a:srgbClr val="785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423160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246120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JOB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657600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ED2EB"/>
                </a:solidFill>
                <a:latin typeface="Aptos"/>
              </a:rPr>
              <a:t>unit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71032" y="2688336"/>
            <a:ext cx="1325880" cy="0"/>
          </a:xfrm>
          <a:prstGeom prst="line">
            <a:avLst/>
          </a:prstGeom>
          <a:ln w="25400">
            <a:solidFill>
              <a:srgbClr val="96AF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498079" y="2331720"/>
            <a:ext cx="713232" cy="713232"/>
          </a:xfrm>
          <a:prstGeom prst="ellipse">
            <a:avLst/>
          </a:prstGeom>
          <a:solidFill>
            <a:srgbClr val="32A564"/>
          </a:solidFill>
          <a:ln>
            <a:solidFill>
              <a:srgbClr val="32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2423160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3246120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59" y="3657600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ED2EB"/>
                </a:solidFill>
                <a:latin typeface="Aptos"/>
              </a:rPr>
              <a:t>task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57031" y="2688336"/>
            <a:ext cx="1325880" cy="0"/>
          </a:xfrm>
          <a:prstGeom prst="line">
            <a:avLst/>
          </a:prstGeom>
          <a:ln w="25400">
            <a:solidFill>
              <a:srgbClr val="96AF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784080" y="2331720"/>
            <a:ext cx="713232" cy="713232"/>
          </a:xfrm>
          <a:prstGeom prst="ellipse">
            <a:avLst/>
          </a:prstGeom>
          <a:solidFill>
            <a:srgbClr val="EB8C2D"/>
          </a:solidFill>
          <a:ln>
            <a:solidFill>
              <a:srgbClr val="EB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2423160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3246120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RUNNER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59" y="3657600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ED2EB"/>
                </a:solidFill>
                <a:latin typeface="Aptos"/>
              </a:rPr>
              <a:t>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61772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Event triggers → workflow defines → jobs execute → steps perform → runner runs.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486400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ED2EB"/>
                </a:solidFill>
                <a:latin typeface="Aptos"/>
              </a:rPr>
              <a:t>Master this model and you can start reading real GitHub Actions workflows.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41F38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6060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2D6EC8"/>
                </a:solidFill>
                <a:latin typeface="Aptos"/>
              </a:rPr>
              <a:t>GitHub Actions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1188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F6978"/>
                </a:solidFill>
                <a:latin typeface="Aptos"/>
              </a:rPr>
              <a:t>From your first workflow to your first automated CI/CD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4709160"/>
            <a:ext cx="6400800" cy="310896"/>
          </a:xfrm>
          <a:prstGeom prst="roundRect">
            <a:avLst/>
          </a:prstGeom>
          <a:solidFill>
            <a:srgbClr val="141F38"/>
          </a:solidFill>
          <a:ln>
            <a:solidFill>
              <a:srgbClr val="14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471830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EVENT → WORKFLOW → JOB → STEP → RUNNER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